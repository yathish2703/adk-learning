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5" r:id="rId26"/>
    <p:sldId id="276" r:id="rId27"/>
    <p:sldId id="277" r:id="rId28"/>
    <p:sldId id="278" r:id="rId29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6.xml"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image" Target="../media/image-1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7.xml"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8.xml"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280160"/>
            <a:ext cx="4023360" cy="4023360"/>
          </a:xfrm>
          <a:prstGeom prst="ellipse">
            <a:avLst/>
          </a:prstGeom>
          <a:solidFill>
            <a:srgbClr val="0D9488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98480" y="4206240"/>
            <a:ext cx="2926080" cy="2926080"/>
          </a:xfrm>
          <a:prstGeom prst="ellipse">
            <a:avLst/>
          </a:prstGeom>
          <a:solidFill>
            <a:srgbClr val="14B8A6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1371600"/>
            <a:ext cx="960120" cy="960120"/>
          </a:xfrm>
          <a:prstGeom prst="ellipse">
            <a:avLst/>
          </a:prstGeom>
          <a:solidFill>
            <a:srgbClr val="0D9488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2591" y="1621231"/>
            <a:ext cx="460858" cy="46085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68680" y="26060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 •  BEGINNER FRIENDLY  •  2 DAYS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822960" y="2926080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AI Agents with Google ADK</a:t>
            </a:r>
            <a:endParaRPr lang="en-US" sz="5200" dirty="0"/>
          </a:p>
        </p:txBody>
      </p:sp>
      <p:sp>
        <p:nvSpPr>
          <p:cNvPr id="8" name="Text 5"/>
          <p:cNvSpPr/>
          <p:nvPr/>
        </p:nvSpPr>
        <p:spPr>
          <a:xfrm>
            <a:off x="868680" y="4343400"/>
            <a:ext cx="9509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7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practical 2-day workshop on Google's Agent Development Kit — from your first agent to multi-agent systems and RAG.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868680" y="52578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Targets ADK Python 2.0</a:t>
            </a:r>
            <a:pPr indent="0" marL="0">
              <a:buNone/>
            </a:pPr>
            <a:r>
              <a:rPr lang="en-US" sz="13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 (GA May 2026, graph-based Workflow Runtime)  •  Python 3.10+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0D9488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4601" y="531449"/>
            <a:ext cx="272125" cy="2721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07008" y="384048"/>
            <a:ext cx="10524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WORKSHOP OVERVIEW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207008" y="640080"/>
            <a:ext cx="105247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you'll build over two days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457200" y="1554480"/>
            <a:ext cx="3657600" cy="36576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22960" y="1920240"/>
            <a:ext cx="777240" cy="777240"/>
          </a:xfrm>
          <a:prstGeom prst="ellipse">
            <a:avLst/>
          </a:prstGeom>
          <a:solidFill>
            <a:srgbClr val="0D9488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5042" y="2122322"/>
            <a:ext cx="373075" cy="373075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22960" y="28346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822960" y="3090672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agent</a:t>
            </a:r>
            <a:endParaRPr lang="en-US" sz="2000" dirty="0"/>
          </a:p>
        </p:txBody>
      </p:sp>
      <p:sp>
        <p:nvSpPr>
          <p:cNvPr id="11" name="Text 7"/>
          <p:cNvSpPr/>
          <p:nvPr/>
        </p:nvSpPr>
        <p:spPr>
          <a:xfrm>
            <a:off x="822960" y="3611880"/>
            <a:ext cx="2926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LLM with instructions, tools, and a reasoning loop — talking to it in the local ADK web UI.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4489704" y="1554480"/>
            <a:ext cx="3657600" cy="36576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4855464" y="1920240"/>
            <a:ext cx="777240" cy="777240"/>
          </a:xfrm>
          <a:prstGeom prst="ellipse">
            <a:avLst/>
          </a:prstGeom>
          <a:solidFill>
            <a:srgbClr val="0D9488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57546" y="2122322"/>
            <a:ext cx="373075" cy="373075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855464" y="28346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100" dirty="0"/>
          </a:p>
        </p:txBody>
      </p:sp>
      <p:sp>
        <p:nvSpPr>
          <p:cNvPr id="16" name="Text 11"/>
          <p:cNvSpPr/>
          <p:nvPr/>
        </p:nvSpPr>
        <p:spPr>
          <a:xfrm>
            <a:off x="4855464" y="3090672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multi-agent system</a:t>
            </a:r>
            <a:endParaRPr lang="en-US" sz="2000" dirty="0"/>
          </a:p>
        </p:txBody>
      </p:sp>
      <p:sp>
        <p:nvSpPr>
          <p:cNvPr id="17" name="Text 12"/>
          <p:cNvSpPr/>
          <p:nvPr/>
        </p:nvSpPr>
        <p:spPr>
          <a:xfrm>
            <a:off x="4855464" y="3611880"/>
            <a:ext cx="2926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Specialized agents composed into a pipeline with Sequential, Parallel, and Loop workflows.</a:t>
            </a:r>
            <a:endParaRPr lang="en-US" sz="1400" dirty="0"/>
          </a:p>
        </p:txBody>
      </p:sp>
      <p:sp>
        <p:nvSpPr>
          <p:cNvPr id="18" name="Shape 13"/>
          <p:cNvSpPr/>
          <p:nvPr/>
        </p:nvSpPr>
        <p:spPr>
          <a:xfrm>
            <a:off x="8522208" y="1554480"/>
            <a:ext cx="3657600" cy="36576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8887968" y="1920240"/>
            <a:ext cx="777240" cy="777240"/>
          </a:xfrm>
          <a:prstGeom prst="ellipse">
            <a:avLst/>
          </a:prstGeom>
          <a:solidFill>
            <a:srgbClr val="0D9488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90050" y="2122322"/>
            <a:ext cx="373075" cy="373075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8887968" y="28346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100" dirty="0"/>
          </a:p>
        </p:txBody>
      </p:sp>
      <p:sp>
        <p:nvSpPr>
          <p:cNvPr id="22" name="Text 16"/>
          <p:cNvSpPr/>
          <p:nvPr/>
        </p:nvSpPr>
        <p:spPr>
          <a:xfrm>
            <a:off x="8887968" y="3090672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RAG-powered agent</a:t>
            </a:r>
            <a:endParaRPr lang="en-US" sz="2000" dirty="0"/>
          </a:p>
        </p:txBody>
      </p:sp>
      <p:sp>
        <p:nvSpPr>
          <p:cNvPr id="23" name="Text 17"/>
          <p:cNvSpPr/>
          <p:nvPr/>
        </p:nvSpPr>
        <p:spPr>
          <a:xfrm>
            <a:off x="8887968" y="3611880"/>
            <a:ext cx="2926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agent that answers questions grounded in your own documents using the Vertex AI RAG Engine.</a:t>
            </a:r>
            <a:endParaRPr lang="en-US" sz="1400" dirty="0"/>
          </a:p>
        </p:txBody>
      </p:sp>
      <p:sp>
        <p:nvSpPr>
          <p:cNvPr id="24" name="Text 18"/>
          <p:cNvSpPr/>
          <p:nvPr/>
        </p:nvSpPr>
        <p:spPr>
          <a:xfrm>
            <a:off x="457200" y="54864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Format:  </a:t>
            </a:r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~40% concepts, 60% building.  Two 6-hour days with breaks.</a:t>
            </a:r>
            <a:endParaRPr lang="en-US" sz="1400" dirty="0"/>
          </a:p>
        </p:txBody>
      </p:sp>
      <p:sp>
        <p:nvSpPr>
          <p:cNvPr id="25" name="Text 19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AI Agents with Google ADK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0D9488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4601" y="531449"/>
            <a:ext cx="272125" cy="2721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07008" y="384048"/>
            <a:ext cx="10524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DAY 1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207008" y="640080"/>
            <a:ext cx="105247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Prerequisites &amp; setup checklist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457200" y="1554480"/>
            <a:ext cx="5532120" cy="4114800"/>
          </a:xfrm>
          <a:prstGeom prst="roundRect">
            <a:avLst>
              <a:gd name="adj" fmla="val 17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777240" y="17830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attendees need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777240" y="2286000"/>
            <a:ext cx="457200" cy="457200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" y="2404872"/>
            <a:ext cx="219456" cy="219456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777240" y="2286000"/>
            <a:ext cx="457200" cy="457200"/>
          </a:xfrm>
          <a:prstGeom prst="ellipse">
            <a:avLst/>
          </a:prstGeom>
          <a:solidFill>
            <a:srgbClr val="ECFDF5"/>
          </a:solidFill>
          <a:ln/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112" y="2404872"/>
            <a:ext cx="219456" cy="219456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371600" y="2267712"/>
            <a:ext cx="4434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3.10 or newer + basic Python skills</a:t>
            </a:r>
            <a:endParaRPr lang="en-US" sz="1450" dirty="0"/>
          </a:p>
        </p:txBody>
      </p:sp>
      <p:sp>
        <p:nvSpPr>
          <p:cNvPr id="13" name="Shape 8"/>
          <p:cNvSpPr/>
          <p:nvPr/>
        </p:nvSpPr>
        <p:spPr>
          <a:xfrm>
            <a:off x="777240" y="3127248"/>
            <a:ext cx="457200" cy="457200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6112" y="3246120"/>
            <a:ext cx="219456" cy="219456"/>
          </a:xfrm>
          <a:prstGeom prst="rect">
            <a:avLst/>
          </a:prstGeom>
        </p:spPr>
      </p:pic>
      <p:sp>
        <p:nvSpPr>
          <p:cNvPr id="15" name="Shape 9"/>
          <p:cNvSpPr/>
          <p:nvPr/>
        </p:nvSpPr>
        <p:spPr>
          <a:xfrm>
            <a:off x="777240" y="3127248"/>
            <a:ext cx="457200" cy="457200"/>
          </a:xfrm>
          <a:prstGeom prst="ellipse">
            <a:avLst/>
          </a:prstGeom>
          <a:solidFill>
            <a:srgbClr val="ECFDF5"/>
          </a:solidFill>
          <a:ln/>
        </p:spPr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6112" y="3246120"/>
            <a:ext cx="219456" cy="219456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371600" y="3108960"/>
            <a:ext cx="4434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free Google AI Studio API key (Gemini) for Day 1</a:t>
            </a:r>
            <a:endParaRPr lang="en-US" sz="1450" dirty="0"/>
          </a:p>
        </p:txBody>
      </p:sp>
      <p:sp>
        <p:nvSpPr>
          <p:cNvPr id="18" name="Shape 11"/>
          <p:cNvSpPr/>
          <p:nvPr/>
        </p:nvSpPr>
        <p:spPr>
          <a:xfrm>
            <a:off x="777240" y="3968496"/>
            <a:ext cx="457200" cy="457200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6112" y="4087368"/>
            <a:ext cx="219456" cy="219456"/>
          </a:xfrm>
          <a:prstGeom prst="rect">
            <a:avLst/>
          </a:prstGeom>
        </p:spPr>
      </p:pic>
      <p:sp>
        <p:nvSpPr>
          <p:cNvPr id="20" name="Shape 12"/>
          <p:cNvSpPr/>
          <p:nvPr/>
        </p:nvSpPr>
        <p:spPr>
          <a:xfrm>
            <a:off x="777240" y="3968496"/>
            <a:ext cx="457200" cy="457200"/>
          </a:xfrm>
          <a:prstGeom prst="ellipse">
            <a:avLst/>
          </a:prstGeom>
          <a:solidFill>
            <a:srgbClr val="ECFDF5"/>
          </a:solidFill>
          <a:ln/>
        </p:spPr>
      </p:sp>
      <p:pic>
        <p:nvPicPr>
          <p:cNvPr id="21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6112" y="4087368"/>
            <a:ext cx="219456" cy="219456"/>
          </a:xfrm>
          <a:prstGeom prst="rect">
            <a:avLst/>
          </a:prstGeom>
        </p:spPr>
      </p:pic>
      <p:sp>
        <p:nvSpPr>
          <p:cNvPr id="22" name="Text 13"/>
          <p:cNvSpPr/>
          <p:nvPr/>
        </p:nvSpPr>
        <p:spPr>
          <a:xfrm>
            <a:off x="1371600" y="3950208"/>
            <a:ext cx="4434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Google Cloud project w/ Vertex AI — Day 2 only</a:t>
            </a:r>
            <a:endParaRPr lang="en-US" sz="1450" dirty="0"/>
          </a:p>
        </p:txBody>
      </p:sp>
      <p:sp>
        <p:nvSpPr>
          <p:cNvPr id="23" name="Shape 14"/>
          <p:cNvSpPr/>
          <p:nvPr/>
        </p:nvSpPr>
        <p:spPr>
          <a:xfrm>
            <a:off x="777240" y="4809744"/>
            <a:ext cx="457200" cy="457200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24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96112" y="4928616"/>
            <a:ext cx="219456" cy="219456"/>
          </a:xfrm>
          <a:prstGeom prst="rect">
            <a:avLst/>
          </a:prstGeom>
        </p:spPr>
      </p:pic>
      <p:sp>
        <p:nvSpPr>
          <p:cNvPr id="25" name="Shape 15"/>
          <p:cNvSpPr/>
          <p:nvPr/>
        </p:nvSpPr>
        <p:spPr>
          <a:xfrm>
            <a:off x="777240" y="4809744"/>
            <a:ext cx="457200" cy="457200"/>
          </a:xfrm>
          <a:prstGeom prst="ellipse">
            <a:avLst/>
          </a:prstGeom>
          <a:solidFill>
            <a:srgbClr val="ECFDF5"/>
          </a:solidFill>
          <a:ln/>
        </p:spPr>
      </p:sp>
      <p:pic>
        <p:nvPicPr>
          <p:cNvPr id="26" name="Image 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96112" y="4928616"/>
            <a:ext cx="219456" cy="219456"/>
          </a:xfrm>
          <a:prstGeom prst="rect">
            <a:avLst/>
          </a:prstGeom>
        </p:spPr>
      </p:pic>
      <p:sp>
        <p:nvSpPr>
          <p:cNvPr id="27" name="Text 16"/>
          <p:cNvSpPr/>
          <p:nvPr/>
        </p:nvSpPr>
        <p:spPr>
          <a:xfrm>
            <a:off x="1371600" y="4791456"/>
            <a:ext cx="4434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terminal, pip, and a code editor (e.g. VS Code)</a:t>
            </a:r>
            <a:endParaRPr lang="en-US" sz="1450" dirty="0"/>
          </a:p>
        </p:txBody>
      </p:sp>
      <p:sp>
        <p:nvSpPr>
          <p:cNvPr id="28" name="Text 17"/>
          <p:cNvSpPr/>
          <p:nvPr/>
        </p:nvSpPr>
        <p:spPr>
          <a:xfrm>
            <a:off x="6355080" y="16916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ADK in one line</a:t>
            </a:r>
            <a:endParaRPr lang="en-US" sz="1700" dirty="0"/>
          </a:p>
        </p:txBody>
      </p:sp>
      <p:sp>
        <p:nvSpPr>
          <p:cNvPr id="29" name="Shape 18"/>
          <p:cNvSpPr/>
          <p:nvPr/>
        </p:nvSpPr>
        <p:spPr>
          <a:xfrm>
            <a:off x="6355080" y="2148840"/>
            <a:ext cx="5376672" cy="1691640"/>
          </a:xfrm>
          <a:prstGeom prst="roundRect">
            <a:avLst>
              <a:gd name="adj" fmla="val 3243"/>
            </a:avLst>
          </a:prstGeom>
          <a:solidFill>
            <a:srgbClr val="0B1B2B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30" name="Shape 19"/>
          <p:cNvSpPr/>
          <p:nvPr/>
        </p:nvSpPr>
        <p:spPr>
          <a:xfrm>
            <a:off x="6556248" y="2331720"/>
            <a:ext cx="100584" cy="100584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31" name="Shape 20"/>
          <p:cNvSpPr/>
          <p:nvPr/>
        </p:nvSpPr>
        <p:spPr>
          <a:xfrm>
            <a:off x="6757416" y="2331720"/>
            <a:ext cx="100584" cy="10058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32" name="Shape 21"/>
          <p:cNvSpPr/>
          <p:nvPr/>
        </p:nvSpPr>
        <p:spPr>
          <a:xfrm>
            <a:off x="6958584" y="2331720"/>
            <a:ext cx="100584" cy="100584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33" name="Text 22"/>
          <p:cNvSpPr/>
          <p:nvPr/>
        </p:nvSpPr>
        <p:spPr>
          <a:xfrm>
            <a:off x="6611112" y="2606040"/>
            <a:ext cx="491947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python -m venv .venv</a:t>
            </a:r>
            <a:endParaRPr lang="en-US" sz="11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source .venv/bin/activate</a:t>
            </a:r>
            <a:endParaRPr lang="en-US" sz="11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pip install google-adk</a:t>
            </a:r>
            <a:endParaRPr lang="en-US" sz="11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adk --version</a:t>
            </a:r>
            <a:endParaRPr lang="en-US" sz="1150" dirty="0"/>
          </a:p>
        </p:txBody>
      </p:sp>
      <p:sp>
        <p:nvSpPr>
          <p:cNvPr id="34" name="Text 23"/>
          <p:cNvSpPr/>
          <p:nvPr/>
        </p:nvSpPr>
        <p:spPr>
          <a:xfrm>
            <a:off x="6355080" y="4114800"/>
            <a:ext cx="5376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cloud account is required on Day 1 — a free Gemini API key is enough to run every Day-1 lab.</a:t>
            </a:r>
            <a:endParaRPr lang="en-US" sz="1350" dirty="0"/>
          </a:p>
        </p:txBody>
      </p:sp>
      <p:sp>
        <p:nvSpPr>
          <p:cNvPr id="35" name="Text 2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AI Agents with Google ADK</a:t>
            </a:r>
            <a:endParaRPr lang="en-US" sz="900" dirty="0"/>
          </a:p>
        </p:txBody>
      </p:sp>
      <p:sp>
        <p:nvSpPr>
          <p:cNvPr id="36" name="Text 2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188720" y="3840480"/>
            <a:ext cx="4206240" cy="4206240"/>
          </a:xfrm>
          <a:prstGeom prst="ellipse">
            <a:avLst/>
          </a:prstGeom>
          <a:solidFill>
            <a:srgbClr val="0D9488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-1463040"/>
            <a:ext cx="3840480" cy="3840480"/>
          </a:xfrm>
          <a:prstGeom prst="ellipse">
            <a:avLst/>
          </a:prstGeom>
          <a:solidFill>
            <a:srgbClr val="14B8A6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68680" y="1600200"/>
            <a:ext cx="914400" cy="914400"/>
          </a:xfrm>
          <a:prstGeom prst="ellipse">
            <a:avLst/>
          </a:prstGeom>
          <a:solidFill>
            <a:srgbClr val="0D9488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6424" y="1837944"/>
            <a:ext cx="438912" cy="4389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68680" y="269748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822960" y="3017520"/>
            <a:ext cx="104241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Foundations: your first agent</a:t>
            </a:r>
            <a:endParaRPr lang="en-US" sz="3600" dirty="0"/>
          </a:p>
        </p:txBody>
      </p:sp>
      <p:sp>
        <p:nvSpPr>
          <p:cNvPr id="8" name="Text 5"/>
          <p:cNvSpPr/>
          <p:nvPr/>
        </p:nvSpPr>
        <p:spPr>
          <a:xfrm>
            <a:off x="868680" y="4892040"/>
            <a:ext cx="9601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C7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an agent really is — reason, act, observe</a:t>
            </a:r>
            <a:endParaRPr lang="en-US" sz="1450" dirty="0"/>
          </a:p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C7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ADK and build your first agent</a:t>
            </a:r>
            <a:endParaRPr lang="en-US" sz="1450" dirty="0"/>
          </a:p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C7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the agent tools</a:t>
            </a:r>
            <a:endParaRPr lang="en-US" sz="1450" dirty="0"/>
          </a:p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C7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Sessions &amp; state: short-term memory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0D9488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4601" y="531449"/>
            <a:ext cx="272125" cy="2721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07008" y="384048"/>
            <a:ext cx="10524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· CONCEPT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207008" y="640080"/>
            <a:ext cx="105247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an AI agent?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457200" y="150876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A plain LLM call is one question, one answer. </a:t>
            </a:r>
            <a:pPr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agent</a:t>
            </a:r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is an LLM given a goal and tools, running in a loop until the task is done.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457200" y="2468880"/>
            <a:ext cx="320040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749808" y="2926080"/>
            <a:ext cx="822960" cy="822960"/>
          </a:xfrm>
          <a:prstGeom prst="ellipse">
            <a:avLst/>
          </a:prstGeom>
          <a:solidFill>
            <a:srgbClr val="0D9488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3778" y="3140050"/>
            <a:ext cx="395021" cy="395021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737360" y="2852928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</a:t>
            </a:r>
            <a:endParaRPr lang="en-US" sz="1900" dirty="0"/>
          </a:p>
        </p:txBody>
      </p:sp>
      <p:sp>
        <p:nvSpPr>
          <p:cNvPr id="11" name="Text 7"/>
          <p:cNvSpPr/>
          <p:nvPr/>
        </p:nvSpPr>
        <p:spPr>
          <a:xfrm>
            <a:off x="1737360" y="3310128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decides what to do next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3785616" y="3127248"/>
            <a:ext cx="566928" cy="566928"/>
          </a:xfrm>
          <a:prstGeom prst="ellipse">
            <a:avLst/>
          </a:prstGeom>
          <a:solidFill>
            <a:srgbClr val="ECFDF5"/>
          </a:solidFill>
          <a:ln/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22776" y="3264408"/>
            <a:ext cx="292608" cy="292608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4480560" y="2468880"/>
            <a:ext cx="320040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4773168" y="2926080"/>
            <a:ext cx="822960" cy="822960"/>
          </a:xfrm>
          <a:prstGeom prst="ellipse">
            <a:avLst/>
          </a:prstGeom>
          <a:solidFill>
            <a:srgbClr val="0D9488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7138" y="3140050"/>
            <a:ext cx="395021" cy="395021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5760720" y="2852928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900" dirty="0"/>
          </a:p>
        </p:txBody>
      </p:sp>
      <p:sp>
        <p:nvSpPr>
          <p:cNvPr id="18" name="Text 12"/>
          <p:cNvSpPr/>
          <p:nvPr/>
        </p:nvSpPr>
        <p:spPr>
          <a:xfrm>
            <a:off x="5760720" y="3310128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calls a tool with chosen inputs</a:t>
            </a:r>
            <a:endParaRPr lang="en-US" sz="1200" dirty="0"/>
          </a:p>
        </p:txBody>
      </p:sp>
      <p:sp>
        <p:nvSpPr>
          <p:cNvPr id="19" name="Shape 13"/>
          <p:cNvSpPr/>
          <p:nvPr/>
        </p:nvSpPr>
        <p:spPr>
          <a:xfrm>
            <a:off x="7808976" y="3127248"/>
            <a:ext cx="566928" cy="566928"/>
          </a:xfrm>
          <a:prstGeom prst="ellipse">
            <a:avLst/>
          </a:prstGeom>
          <a:solidFill>
            <a:srgbClr val="ECFDF5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46136" y="3264408"/>
            <a:ext cx="292608" cy="292608"/>
          </a:xfrm>
          <a:prstGeom prst="rect">
            <a:avLst/>
          </a:prstGeom>
        </p:spPr>
      </p:pic>
      <p:sp>
        <p:nvSpPr>
          <p:cNvPr id="21" name="Shape 14"/>
          <p:cNvSpPr/>
          <p:nvPr/>
        </p:nvSpPr>
        <p:spPr>
          <a:xfrm>
            <a:off x="8503920" y="2468880"/>
            <a:ext cx="320040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22" name="Shape 15"/>
          <p:cNvSpPr/>
          <p:nvPr/>
        </p:nvSpPr>
        <p:spPr>
          <a:xfrm>
            <a:off x="8796528" y="2926080"/>
            <a:ext cx="822960" cy="822960"/>
          </a:xfrm>
          <a:prstGeom prst="ellipse">
            <a:avLst/>
          </a:prstGeom>
          <a:solidFill>
            <a:srgbClr val="0D9488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23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10498" y="3140050"/>
            <a:ext cx="395021" cy="395021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9784080" y="2852928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</a:t>
            </a:r>
            <a:endParaRPr lang="en-US" sz="1900" dirty="0"/>
          </a:p>
        </p:txBody>
      </p:sp>
      <p:sp>
        <p:nvSpPr>
          <p:cNvPr id="25" name="Text 17"/>
          <p:cNvSpPr/>
          <p:nvPr/>
        </p:nvSpPr>
        <p:spPr>
          <a:xfrm>
            <a:off x="9784080" y="3310128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ADK feeds the result back in</a:t>
            </a:r>
            <a:endParaRPr lang="en-US" sz="1200" dirty="0"/>
          </a:p>
        </p:txBody>
      </p:sp>
      <p:sp>
        <p:nvSpPr>
          <p:cNvPr id="26" name="Text 18"/>
          <p:cNvSpPr/>
          <p:nvPr/>
        </p:nvSpPr>
        <p:spPr>
          <a:xfrm>
            <a:off x="457200" y="429768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…repeat until the goal is met</a:t>
            </a:r>
            <a:endParaRPr lang="en-US" sz="1300" dirty="0"/>
          </a:p>
        </p:txBody>
      </p:sp>
      <p:sp>
        <p:nvSpPr>
          <p:cNvPr id="27" name="Shape 19"/>
          <p:cNvSpPr/>
          <p:nvPr/>
        </p:nvSpPr>
        <p:spPr>
          <a:xfrm>
            <a:off x="457200" y="4983480"/>
            <a:ext cx="3657600" cy="1234440"/>
          </a:xfrm>
          <a:prstGeom prst="roundRect">
            <a:avLst>
              <a:gd name="adj" fmla="val 4444"/>
            </a:avLst>
          </a:prstGeom>
          <a:solidFill>
            <a:srgbClr val="F1F5F9"/>
          </a:solidFill>
          <a:ln/>
        </p:spPr>
      </p:sp>
      <p:sp>
        <p:nvSpPr>
          <p:cNvPr id="28" name="Text 20"/>
          <p:cNvSpPr/>
          <p:nvPr/>
        </p:nvSpPr>
        <p:spPr>
          <a:xfrm>
            <a:off x="685800" y="514807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 vs. acting</a:t>
            </a:r>
            <a:endParaRPr lang="en-US" sz="1450" dirty="0"/>
          </a:p>
        </p:txBody>
      </p:sp>
      <p:sp>
        <p:nvSpPr>
          <p:cNvPr id="29" name="Text 21"/>
          <p:cNvSpPr/>
          <p:nvPr/>
        </p:nvSpPr>
        <p:spPr>
          <a:xfrm>
            <a:off x="685800" y="5513832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chooses the tool; ADK runs it and returns the result.</a:t>
            </a:r>
            <a:endParaRPr lang="en-US" sz="1200" dirty="0"/>
          </a:p>
        </p:txBody>
      </p:sp>
      <p:sp>
        <p:nvSpPr>
          <p:cNvPr id="30" name="Shape 22"/>
          <p:cNvSpPr/>
          <p:nvPr/>
        </p:nvSpPr>
        <p:spPr>
          <a:xfrm>
            <a:off x="4489704" y="4983480"/>
            <a:ext cx="3657600" cy="1234440"/>
          </a:xfrm>
          <a:prstGeom prst="roundRect">
            <a:avLst>
              <a:gd name="adj" fmla="val 4444"/>
            </a:avLst>
          </a:prstGeom>
          <a:solidFill>
            <a:srgbClr val="F1F5F9"/>
          </a:solidFill>
          <a:ln/>
        </p:spPr>
      </p:sp>
      <p:sp>
        <p:nvSpPr>
          <p:cNvPr id="31" name="Text 23"/>
          <p:cNvSpPr/>
          <p:nvPr/>
        </p:nvSpPr>
        <p:spPr>
          <a:xfrm>
            <a:off x="4718304" y="514807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are just functions</a:t>
            </a:r>
            <a:endParaRPr lang="en-US" sz="1450" dirty="0"/>
          </a:p>
        </p:txBody>
      </p:sp>
      <p:sp>
        <p:nvSpPr>
          <p:cNvPr id="32" name="Text 24"/>
          <p:cNvSpPr/>
          <p:nvPr/>
        </p:nvSpPr>
        <p:spPr>
          <a:xfrm>
            <a:off x="4718304" y="5513832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Anything you can write as a Python function can become a tool.</a:t>
            </a:r>
            <a:endParaRPr lang="en-US" sz="1200" dirty="0"/>
          </a:p>
        </p:txBody>
      </p:sp>
      <p:sp>
        <p:nvSpPr>
          <p:cNvPr id="33" name="Shape 25"/>
          <p:cNvSpPr/>
          <p:nvPr/>
        </p:nvSpPr>
        <p:spPr>
          <a:xfrm>
            <a:off x="8522208" y="4983480"/>
            <a:ext cx="3657600" cy="1234440"/>
          </a:xfrm>
          <a:prstGeom prst="roundRect">
            <a:avLst>
              <a:gd name="adj" fmla="val 4444"/>
            </a:avLst>
          </a:prstGeom>
          <a:solidFill>
            <a:srgbClr val="F1F5F9"/>
          </a:solidFill>
          <a:ln/>
        </p:spPr>
      </p:sp>
      <p:sp>
        <p:nvSpPr>
          <p:cNvPr id="34" name="Text 26"/>
          <p:cNvSpPr/>
          <p:nvPr/>
        </p:nvSpPr>
        <p:spPr>
          <a:xfrm>
            <a:off x="8750808" y="514807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compose</a:t>
            </a:r>
            <a:endParaRPr lang="en-US" sz="1450" dirty="0"/>
          </a:p>
        </p:txBody>
      </p:sp>
      <p:sp>
        <p:nvSpPr>
          <p:cNvPr id="35" name="Text 27"/>
          <p:cNvSpPr/>
          <p:nvPr/>
        </p:nvSpPr>
        <p:spPr>
          <a:xfrm>
            <a:off x="8750808" y="5513832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tasks become several small, specialized agents working together.</a:t>
            </a:r>
            <a:endParaRPr lang="en-US" sz="1200" dirty="0"/>
          </a:p>
        </p:txBody>
      </p:sp>
      <p:sp>
        <p:nvSpPr>
          <p:cNvPr id="36" name="Text 28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AI Agents with Google ADK</a:t>
            </a:r>
            <a:endParaRPr lang="en-US" sz="900" dirty="0"/>
          </a:p>
        </p:txBody>
      </p:sp>
      <p:sp>
        <p:nvSpPr>
          <p:cNvPr id="37" name="Text 29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0D9488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4601" y="531449"/>
            <a:ext cx="272125" cy="2721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07008" y="384048"/>
            <a:ext cx="10524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· CONCEPT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207008" y="640080"/>
            <a:ext cx="105247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ADK, and why use it?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457200" y="1481328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ADK makes building agents feel like normal software engineering — code-first, testable, version-controlled — instead of a pile of glue code.</a:t>
            </a:r>
            <a:endParaRPr lang="en-US" sz="1550" dirty="0"/>
          </a:p>
        </p:txBody>
      </p:sp>
      <p:sp>
        <p:nvSpPr>
          <p:cNvPr id="7" name="Shape 4"/>
          <p:cNvSpPr/>
          <p:nvPr/>
        </p:nvSpPr>
        <p:spPr>
          <a:xfrm>
            <a:off x="457200" y="2240280"/>
            <a:ext cx="269748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777240" y="2560320"/>
            <a:ext cx="731520" cy="731520"/>
          </a:xfrm>
          <a:prstGeom prst="ellipse">
            <a:avLst/>
          </a:prstGeom>
          <a:solidFill>
            <a:srgbClr val="0D9488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7435" y="2750515"/>
            <a:ext cx="351130" cy="35113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31520" y="338328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Code-first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731520" y="374904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agents, tools &amp; orchestration directly in Python.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3401568" y="2240280"/>
            <a:ext cx="269748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3721608" y="2560320"/>
            <a:ext cx="731520" cy="731520"/>
          </a:xfrm>
          <a:prstGeom prst="ellipse">
            <a:avLst/>
          </a:prstGeom>
          <a:solidFill>
            <a:srgbClr val="0D9488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11803" y="2750515"/>
            <a:ext cx="351130" cy="35113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675888" y="338328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Model-agnostic</a:t>
            </a:r>
            <a:endParaRPr lang="en-US" sz="1600" dirty="0"/>
          </a:p>
        </p:txBody>
      </p:sp>
      <p:sp>
        <p:nvSpPr>
          <p:cNvPr id="16" name="Text 11"/>
          <p:cNvSpPr/>
          <p:nvPr/>
        </p:nvSpPr>
        <p:spPr>
          <a:xfrm>
            <a:off x="3675888" y="374904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Optimized for Gemini, but works with other models too.</a:t>
            </a:r>
            <a:endParaRPr lang="en-US" sz="1250" dirty="0"/>
          </a:p>
        </p:txBody>
      </p:sp>
      <p:sp>
        <p:nvSpPr>
          <p:cNvPr id="17" name="Shape 12"/>
          <p:cNvSpPr/>
          <p:nvPr/>
        </p:nvSpPr>
        <p:spPr>
          <a:xfrm>
            <a:off x="6345936" y="2240280"/>
            <a:ext cx="269748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6665976" y="2560320"/>
            <a:ext cx="731520" cy="731520"/>
          </a:xfrm>
          <a:prstGeom prst="ellipse">
            <a:avLst/>
          </a:prstGeom>
          <a:solidFill>
            <a:srgbClr val="0D9488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6171" y="2750515"/>
            <a:ext cx="351130" cy="35113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620256" y="338328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Batteries included</a:t>
            </a:r>
            <a:endParaRPr lang="en-US" sz="1600" dirty="0"/>
          </a:p>
        </p:txBody>
      </p:sp>
      <p:sp>
        <p:nvSpPr>
          <p:cNvPr id="21" name="Text 15"/>
          <p:cNvSpPr/>
          <p:nvPr/>
        </p:nvSpPr>
        <p:spPr>
          <a:xfrm>
            <a:off x="6620256" y="374904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web UI, built-in tools, memory, eval, deploy.</a:t>
            </a:r>
            <a:endParaRPr lang="en-US" sz="1250" dirty="0"/>
          </a:p>
        </p:txBody>
      </p:sp>
      <p:sp>
        <p:nvSpPr>
          <p:cNvPr id="22" name="Shape 16"/>
          <p:cNvSpPr/>
          <p:nvPr/>
        </p:nvSpPr>
        <p:spPr>
          <a:xfrm>
            <a:off x="9290304" y="2240280"/>
            <a:ext cx="269748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9610344" y="2560320"/>
            <a:ext cx="731520" cy="731520"/>
          </a:xfrm>
          <a:prstGeom prst="ellipse">
            <a:avLst/>
          </a:prstGeom>
          <a:solidFill>
            <a:srgbClr val="0D9488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00539" y="2750515"/>
            <a:ext cx="351130" cy="351130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9564624" y="338328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Scales up</a:t>
            </a:r>
            <a:endParaRPr lang="en-US" sz="1600" dirty="0"/>
          </a:p>
        </p:txBody>
      </p:sp>
      <p:sp>
        <p:nvSpPr>
          <p:cNvPr id="26" name="Text 19"/>
          <p:cNvSpPr/>
          <p:nvPr/>
        </p:nvSpPr>
        <p:spPr>
          <a:xfrm>
            <a:off x="9564624" y="374904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code grows from one agent to a multi-agent system.</a:t>
            </a:r>
            <a:endParaRPr lang="en-US" sz="1250" dirty="0"/>
          </a:p>
        </p:txBody>
      </p:sp>
      <p:sp>
        <p:nvSpPr>
          <p:cNvPr id="27" name="Shape 20"/>
          <p:cNvSpPr/>
          <p:nvPr/>
        </p:nvSpPr>
        <p:spPr>
          <a:xfrm>
            <a:off x="457200" y="4846320"/>
            <a:ext cx="11274552" cy="868680"/>
          </a:xfrm>
          <a:prstGeom prst="roundRect">
            <a:avLst>
              <a:gd name="adj" fmla="val 6316"/>
            </a:avLst>
          </a:prstGeom>
          <a:solidFill>
            <a:srgbClr val="0F2540"/>
          </a:solidFill>
          <a:ln/>
        </p:spPr>
      </p:sp>
      <p:pic>
        <p:nvPicPr>
          <p:cNvPr id="28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" y="5120640"/>
            <a:ext cx="329184" cy="329184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1234440" y="4983480"/>
            <a:ext cx="10241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Also available in TypeScript, Go, Java &amp; Kotlin. </a:t>
            </a:r>
            <a:pPr indent="0" marL="0">
              <a:buNone/>
            </a:pPr>
            <a:r>
              <a:rPr lang="en-US" sz="1400" dirty="0">
                <a:solidFill>
                  <a:srgbClr val="C7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workshop uses Python throughout.</a:t>
            </a:r>
            <a:endParaRPr lang="en-US" sz="1400" dirty="0"/>
          </a:p>
        </p:txBody>
      </p:sp>
      <p:sp>
        <p:nvSpPr>
          <p:cNvPr id="30" name="Text 2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AI Agents with Google ADK</a:t>
            </a:r>
            <a:endParaRPr lang="en-US" sz="900" dirty="0"/>
          </a:p>
        </p:txBody>
      </p:sp>
      <p:sp>
        <p:nvSpPr>
          <p:cNvPr id="31" name="Text 2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0D9488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4601" y="531449"/>
            <a:ext cx="272125" cy="2721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07008" y="384048"/>
            <a:ext cx="10524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· LAB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207008" y="640080"/>
            <a:ext cx="105247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structure &amp; setup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457200" y="146304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ADK discovers your agent by looking for a root_agent variable. The standard layout: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457200" y="2011680"/>
            <a:ext cx="5577840" cy="2468880"/>
          </a:xfrm>
          <a:prstGeom prst="roundRect">
            <a:avLst>
              <a:gd name="adj" fmla="val 2222"/>
            </a:avLst>
          </a:prstGeom>
          <a:solidFill>
            <a:srgbClr val="0B1B2B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658368" y="2194560"/>
            <a:ext cx="100584" cy="100584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9" name="Shape 6"/>
          <p:cNvSpPr/>
          <p:nvPr/>
        </p:nvSpPr>
        <p:spPr>
          <a:xfrm>
            <a:off x="859536" y="2194560"/>
            <a:ext cx="100584" cy="10058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0" name="Shape 7"/>
          <p:cNvSpPr/>
          <p:nvPr/>
        </p:nvSpPr>
        <p:spPr>
          <a:xfrm>
            <a:off x="1060704" y="2194560"/>
            <a:ext cx="100584" cy="100584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1" name="Text 8"/>
          <p:cNvSpPr/>
          <p:nvPr/>
        </p:nvSpPr>
        <p:spPr>
          <a:xfrm>
            <a:off x="713232" y="2468880"/>
            <a:ext cx="51206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research_assistant/</a:t>
            </a:r>
            <a:endParaRPr lang="en-US" sz="11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__init__.py     # from . import agent</a:t>
            </a:r>
            <a:endParaRPr lang="en-US" sz="11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agent.py        # defines root_agent</a:t>
            </a:r>
            <a:endParaRPr lang="en-US" sz="11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 .env            # GOOGLE_API_KEY=...</a:t>
            </a:r>
            <a:endParaRPr lang="en-US" sz="1150" dirty="0"/>
          </a:p>
          <a:p>
            <a:pPr algn="l" indent="0" marL="0">
              <a:lnSpc>
                <a:spcPct val="108000"/>
              </a:lnSpc>
              <a:buNone/>
            </a:pPr>
            <a:endParaRPr lang="en-US" sz="11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7DD3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run the local web UI from the</a:t>
            </a:r>
            <a:endParaRPr lang="en-US" sz="11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7DD3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parent folder:</a:t>
            </a:r>
            <a:endParaRPr lang="en-US" sz="11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adk web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6355080" y="2011680"/>
            <a:ext cx="5376672" cy="2468880"/>
          </a:xfrm>
          <a:prstGeom prst="roundRect">
            <a:avLst>
              <a:gd name="adj" fmla="val 2963"/>
            </a:avLst>
          </a:prstGeom>
          <a:solidFill>
            <a:srgbClr val="ECFDF5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400" y="2286000"/>
            <a:ext cx="384048" cy="38404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178040" y="228600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ways to test locally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629400" y="283464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adk web</a:t>
            </a:r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 →  a browser chat UI with a full </a:t>
            </a:r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 / event view</a:t>
            </a:r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of what the agent did.</a:t>
            </a:r>
            <a:endParaRPr lang="en-US" sz="1350" dirty="0"/>
          </a:p>
        </p:txBody>
      </p:sp>
      <p:sp>
        <p:nvSpPr>
          <p:cNvPr id="16" name="Text 12"/>
          <p:cNvSpPr/>
          <p:nvPr/>
        </p:nvSpPr>
        <p:spPr>
          <a:xfrm>
            <a:off x="6629400" y="365760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adk run &lt;folder&gt;</a:t>
            </a:r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 →  a quick chat right in the terminal.</a:t>
            </a:r>
            <a:endParaRPr lang="en-US" sz="1350" dirty="0"/>
          </a:p>
        </p:txBody>
      </p:sp>
      <p:sp>
        <p:nvSpPr>
          <p:cNvPr id="17" name="Shape 13"/>
          <p:cNvSpPr/>
          <p:nvPr/>
        </p:nvSpPr>
        <p:spPr>
          <a:xfrm>
            <a:off x="457200" y="4846320"/>
            <a:ext cx="11274552" cy="841248"/>
          </a:xfrm>
          <a:prstGeom prst="roundRect">
            <a:avLst>
              <a:gd name="adj" fmla="val 6522"/>
            </a:avLst>
          </a:prstGeom>
          <a:solidFill>
            <a:srgbClr val="F1F5F9"/>
          </a:solidFill>
          <a:ln/>
        </p:spPr>
      </p:sp>
      <p:sp>
        <p:nvSpPr>
          <p:cNvPr id="18" name="Text 14"/>
          <p:cNvSpPr/>
          <p:nvPr/>
        </p:nvSpPr>
        <p:spPr>
          <a:xfrm>
            <a:off x="731520" y="498348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Teaching tip:  </a:t>
            </a:r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 real time in the trace view — seeing the agent's steps is the fastest way for beginners to build intuition.</a:t>
            </a:r>
            <a:endParaRPr lang="en-US" sz="1350" dirty="0"/>
          </a:p>
        </p:txBody>
      </p:sp>
      <p:sp>
        <p:nvSpPr>
          <p:cNvPr id="19" name="Text 15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AI Agents with Google ADK</a:t>
            </a:r>
            <a:endParaRPr lang="en-US" sz="900" dirty="0"/>
          </a:p>
        </p:txBody>
      </p:sp>
      <p:sp>
        <p:nvSpPr>
          <p:cNvPr id="20" name="Text 16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0D9488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4601" y="531449"/>
            <a:ext cx="272125" cy="2721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07008" y="384048"/>
            <a:ext cx="10524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· LAB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207008" y="640080"/>
            <a:ext cx="105247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first agent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457200" y="146304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simplest possible agent: a name, a model, and an instruction. That's it.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457200" y="1965960"/>
            <a:ext cx="6858000" cy="3291840"/>
          </a:xfrm>
          <a:prstGeom prst="roundRect">
            <a:avLst>
              <a:gd name="adj" fmla="val 1667"/>
            </a:avLst>
          </a:prstGeom>
          <a:solidFill>
            <a:srgbClr val="0B1B2B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658368" y="2148840"/>
            <a:ext cx="100584" cy="100584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9" name="Shape 6"/>
          <p:cNvSpPr/>
          <p:nvPr/>
        </p:nvSpPr>
        <p:spPr>
          <a:xfrm>
            <a:off x="859536" y="2148840"/>
            <a:ext cx="100584" cy="10058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0" name="Shape 7"/>
          <p:cNvSpPr/>
          <p:nvPr/>
        </p:nvSpPr>
        <p:spPr>
          <a:xfrm>
            <a:off x="1060704" y="2148840"/>
            <a:ext cx="100584" cy="100584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1" name="Text 8"/>
          <p:cNvSpPr/>
          <p:nvPr/>
        </p:nvSpPr>
        <p:spPr>
          <a:xfrm>
            <a:off x="713232" y="2423160"/>
            <a:ext cx="64008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8BD5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google.adk.agents import Agent</a:t>
            </a:r>
            <a:endParaRPr lang="en-US" sz="1150" dirty="0"/>
          </a:p>
          <a:p>
            <a:pPr algn="l" indent="0" marL="0">
              <a:lnSpc>
                <a:spcPct val="108000"/>
              </a:lnSpc>
              <a:buNone/>
            </a:pPr>
            <a:endParaRPr lang="en-US" sz="11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root_agent = Agent(</a:t>
            </a:r>
            <a:endParaRPr lang="en-US" sz="11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name="research_assistant",</a:t>
            </a:r>
            <a:endParaRPr lang="en-US" sz="11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model="gemini-2.0-flash",</a:t>
            </a:r>
            <a:endParaRPr lang="en-US" sz="11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description="Answers general questions.",</a:t>
            </a:r>
            <a:endParaRPr lang="en-US" sz="11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instruction=(</a:t>
            </a:r>
            <a:endParaRPr lang="en-US" sz="11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FBBF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    "You are a friendly research assistant. "</a:t>
            </a:r>
            <a:endParaRPr lang="en-US" sz="11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FBBF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    "Answer clearly. If unsure, say so."</a:t>
            </a:r>
            <a:endParaRPr lang="en-US" sz="11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),</a:t>
            </a:r>
            <a:endParaRPr lang="en-US" sz="11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7589520" y="1965960"/>
            <a:ext cx="4142232" cy="3291840"/>
          </a:xfrm>
          <a:prstGeom prst="roundRect">
            <a:avLst>
              <a:gd name="adj" fmla="val 2222"/>
            </a:avLst>
          </a:prstGeom>
          <a:solidFill>
            <a:srgbClr val="F1F5F9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7863840" y="21945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4 things to teach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7863840" y="2697480"/>
            <a:ext cx="36576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— how other agents refer to it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— which LLM powers it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description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— used when delegating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instruction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— the system prompt / behavior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457200" y="54406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run  adk web  and chat with it.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AI Agents with Google ADK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0D9488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4601" y="531449"/>
            <a:ext cx="272125" cy="2721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07008" y="384048"/>
            <a:ext cx="10524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· LAB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207008" y="640080"/>
            <a:ext cx="105247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Giving the agent tools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457200" y="146304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A tool is just a Python function with type hints and a clear docstring. </a:t>
            </a:r>
            <a:pPr indent="0" marL="0">
              <a:buNone/>
            </a:pPr>
            <a:r>
              <a:rPr lang="en-US" sz="15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docstring is the interface</a:t>
            </a:r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— it's what the model reads to decide when to call it.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457200" y="2057400"/>
            <a:ext cx="6858000" cy="3154680"/>
          </a:xfrm>
          <a:prstGeom prst="roundRect">
            <a:avLst>
              <a:gd name="adj" fmla="val 1739"/>
            </a:avLst>
          </a:prstGeom>
          <a:solidFill>
            <a:srgbClr val="0B1B2B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658368" y="2240280"/>
            <a:ext cx="100584" cy="100584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9" name="Shape 6"/>
          <p:cNvSpPr/>
          <p:nvPr/>
        </p:nvSpPr>
        <p:spPr>
          <a:xfrm>
            <a:off x="859536" y="2240280"/>
            <a:ext cx="100584" cy="10058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0" name="Shape 7"/>
          <p:cNvSpPr/>
          <p:nvPr/>
        </p:nvSpPr>
        <p:spPr>
          <a:xfrm>
            <a:off x="1060704" y="2240280"/>
            <a:ext cx="100584" cy="100584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1" name="Text 8"/>
          <p:cNvSpPr/>
          <p:nvPr/>
        </p:nvSpPr>
        <p:spPr>
          <a:xfrm>
            <a:off x="713232" y="2514600"/>
            <a:ext cx="640080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get_word_count(text: str) -&gt; dict:</a:t>
            </a:r>
            <a:endParaRPr lang="en-US" sz="11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FBBF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"""Counts the words in a piece of text.</a:t>
            </a:r>
            <a:endParaRPr lang="en-US" sz="11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FBBF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Args:  text: The text to count.</a:t>
            </a:r>
            <a:endParaRPr lang="en-US" sz="11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FBBF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Returns: {"word_count": int}"""</a:t>
            </a:r>
            <a:endParaRPr lang="en-US" sz="11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return {"word_count": len(text.split())}</a:t>
            </a:r>
            <a:endParaRPr lang="en-US" sz="1150" dirty="0"/>
          </a:p>
          <a:p>
            <a:pPr algn="l" indent="0" marL="0">
              <a:lnSpc>
                <a:spcPct val="108000"/>
              </a:lnSpc>
              <a:buNone/>
            </a:pPr>
            <a:endParaRPr lang="en-US" sz="11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root_agent = Agent(</a:t>
            </a:r>
            <a:endParaRPr lang="en-US" sz="11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name="research_assistant",</a:t>
            </a:r>
            <a:endParaRPr lang="en-US" sz="11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model="gemini-2.0-flash",</a:t>
            </a:r>
            <a:endParaRPr lang="en-US" sz="11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8BD5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tools=[get_word_count, google_search],</a:t>
            </a:r>
            <a:endParaRPr lang="en-US" sz="11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7589520" y="205740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lessons</a:t>
            </a:r>
            <a:endParaRPr lang="en-US" sz="1600" dirty="0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240" y="2560320"/>
            <a:ext cx="274320" cy="2743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8028432" y="2496312"/>
            <a:ext cx="3703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bad docstring = the model misuses or ignores the tool.</a:t>
            </a:r>
            <a:endParaRPr lang="en-US" sz="1250" dirty="0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5240" y="3218688"/>
            <a:ext cx="274320" cy="27432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028432" y="3154680"/>
            <a:ext cx="3703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structured data (a dict), not just a string.</a:t>
            </a:r>
            <a:endParaRPr lang="en-US" sz="1250" dirty="0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35240" y="3877056"/>
            <a:ext cx="274320" cy="27432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8028432" y="3813048"/>
            <a:ext cx="3703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decides whether &amp; how to call it — you don't.</a:t>
            </a:r>
            <a:endParaRPr lang="en-US" sz="1250" dirty="0"/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35240" y="4535424"/>
            <a:ext cx="274320" cy="274320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028432" y="4471416"/>
            <a:ext cx="3703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tools (e.g. google_search) drop in the same way.</a:t>
            </a:r>
            <a:endParaRPr lang="en-US" sz="1250" dirty="0"/>
          </a:p>
        </p:txBody>
      </p:sp>
      <p:sp>
        <p:nvSpPr>
          <p:cNvPr id="21" name="Text 1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AI Agents with Google ADK</a:t>
            </a:r>
            <a:endParaRPr lang="en-US" sz="900" dirty="0"/>
          </a:p>
        </p:txBody>
      </p:sp>
      <p:sp>
        <p:nvSpPr>
          <p:cNvPr id="22" name="Text 1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0D9488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4601" y="531449"/>
            <a:ext cx="272125" cy="2721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07008" y="384048"/>
            <a:ext cx="10524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· CONCEPT + LAB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207008" y="640080"/>
            <a:ext cx="105247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Sessions &amp; state: short-term memory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457200" y="1600200"/>
            <a:ext cx="365760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77240" y="1965960"/>
            <a:ext cx="731520" cy="731520"/>
          </a:xfrm>
          <a:prstGeom prst="ellipse">
            <a:avLst/>
          </a:prstGeom>
          <a:solidFill>
            <a:srgbClr val="0D9488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7435" y="2156155"/>
            <a:ext cx="351130" cy="35113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737360" y="1984248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</a:t>
            </a:r>
            <a:endParaRPr lang="en-US" sz="1800" dirty="0"/>
          </a:p>
        </p:txBody>
      </p:sp>
      <p:sp>
        <p:nvSpPr>
          <p:cNvPr id="10" name="Text 6"/>
          <p:cNvSpPr/>
          <p:nvPr/>
        </p:nvSpPr>
        <p:spPr>
          <a:xfrm>
            <a:off x="822960" y="265176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ongoing conversation. Holds the events — the message &amp; tool-call history.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4489704" y="1600200"/>
            <a:ext cx="365760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809744" y="1965960"/>
            <a:ext cx="731520" cy="731520"/>
          </a:xfrm>
          <a:prstGeom prst="ellipse">
            <a:avLst/>
          </a:prstGeom>
          <a:solidFill>
            <a:srgbClr val="0D9488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99939" y="2156155"/>
            <a:ext cx="351130" cy="35113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769864" y="1984248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</a:t>
            </a:r>
            <a:endParaRPr lang="en-US" sz="1800" dirty="0"/>
          </a:p>
        </p:txBody>
      </p:sp>
      <p:sp>
        <p:nvSpPr>
          <p:cNvPr id="15" name="Text 10"/>
          <p:cNvSpPr/>
          <p:nvPr/>
        </p:nvSpPr>
        <p:spPr>
          <a:xfrm>
            <a:off x="4855464" y="265176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key-value scratchpad on the session. Remembers things within one chat.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8522208" y="1600200"/>
            <a:ext cx="365760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8842248" y="1965960"/>
            <a:ext cx="731520" cy="731520"/>
          </a:xfrm>
          <a:prstGeom prst="ellipse">
            <a:avLst/>
          </a:prstGeom>
          <a:solidFill>
            <a:srgbClr val="0D9488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32443" y="2156155"/>
            <a:ext cx="351130" cy="35113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9802368" y="1984248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Runner</a:t>
            </a:r>
            <a:endParaRPr lang="en-US" sz="1800" dirty="0"/>
          </a:p>
        </p:txBody>
      </p:sp>
      <p:sp>
        <p:nvSpPr>
          <p:cNvPr id="20" name="Text 14"/>
          <p:cNvSpPr/>
          <p:nvPr/>
        </p:nvSpPr>
        <p:spPr>
          <a:xfrm>
            <a:off x="8887968" y="265176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Executes the agent and manages the session via a SessionService.</a:t>
            </a:r>
            <a:endParaRPr lang="en-US" sz="1250" dirty="0"/>
          </a:p>
        </p:txBody>
      </p:sp>
      <p:sp>
        <p:nvSpPr>
          <p:cNvPr id="21" name="Shape 15"/>
          <p:cNvSpPr/>
          <p:nvPr/>
        </p:nvSpPr>
        <p:spPr>
          <a:xfrm>
            <a:off x="457200" y="3749040"/>
            <a:ext cx="6858000" cy="1874520"/>
          </a:xfrm>
          <a:prstGeom prst="roundRect">
            <a:avLst>
              <a:gd name="adj" fmla="val 2927"/>
            </a:avLst>
          </a:prstGeom>
          <a:solidFill>
            <a:srgbClr val="0B1B2B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658368" y="3931920"/>
            <a:ext cx="100584" cy="100584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23" name="Shape 17"/>
          <p:cNvSpPr/>
          <p:nvPr/>
        </p:nvSpPr>
        <p:spPr>
          <a:xfrm>
            <a:off x="859536" y="3931920"/>
            <a:ext cx="100584" cy="10058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24" name="Shape 18"/>
          <p:cNvSpPr/>
          <p:nvPr/>
        </p:nvSpPr>
        <p:spPr>
          <a:xfrm>
            <a:off x="1060704" y="3931920"/>
            <a:ext cx="100584" cy="100584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25" name="Text 19"/>
          <p:cNvSpPr/>
          <p:nvPr/>
        </p:nvSpPr>
        <p:spPr>
          <a:xfrm>
            <a:off x="713232" y="4206240"/>
            <a:ext cx="64008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8BD5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google.adk.runners import Runner</a:t>
            </a:r>
            <a:endParaRPr lang="en-US" sz="11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8BD5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google.adk.sessions import InMemorySessionService</a:t>
            </a:r>
            <a:endParaRPr lang="en-US" sz="1150" dirty="0"/>
          </a:p>
          <a:p>
            <a:pPr algn="l" indent="0" marL="0">
              <a:lnSpc>
                <a:spcPct val="108000"/>
              </a:lnSpc>
              <a:buNone/>
            </a:pPr>
            <a:endParaRPr lang="en-US" sz="11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runner = Runner(agent=root_agent,</a:t>
            </a:r>
            <a:endParaRPr lang="en-US" sz="11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app_name="research_app",</a:t>
            </a:r>
            <a:endParaRPr lang="en-US" sz="11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session_service=InMemorySessionService())</a:t>
            </a:r>
            <a:endParaRPr lang="en-US" sz="1150" dirty="0"/>
          </a:p>
        </p:txBody>
      </p:sp>
      <p:sp>
        <p:nvSpPr>
          <p:cNvPr id="26" name="Shape 20"/>
          <p:cNvSpPr/>
          <p:nvPr/>
        </p:nvSpPr>
        <p:spPr>
          <a:xfrm>
            <a:off x="7589520" y="3749040"/>
            <a:ext cx="4142232" cy="1874520"/>
          </a:xfrm>
          <a:prstGeom prst="roundRect">
            <a:avLst>
              <a:gd name="adj" fmla="val 3902"/>
            </a:avLst>
          </a:prstGeom>
          <a:solidFill>
            <a:srgbClr val="ECFDF5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63840" y="3977640"/>
            <a:ext cx="365760" cy="36576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8321040" y="39776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conflate the three!</a:t>
            </a:r>
            <a:endParaRPr lang="en-US" sz="1500" dirty="0"/>
          </a:p>
        </p:txBody>
      </p:sp>
      <p:sp>
        <p:nvSpPr>
          <p:cNvPr id="29" name="Text 22"/>
          <p:cNvSpPr/>
          <p:nvPr/>
        </p:nvSpPr>
        <p:spPr>
          <a:xfrm>
            <a:off x="7863840" y="4434840"/>
            <a:ext cx="3611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lives inside one conversation. Recalling things across separate chats is Memory — that's Day 2.</a:t>
            </a:r>
            <a:endParaRPr lang="en-US" sz="1300" dirty="0"/>
          </a:p>
        </p:txBody>
      </p:sp>
      <p:sp>
        <p:nvSpPr>
          <p:cNvPr id="30" name="Text 2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AI Agents with Google ADK</a:t>
            </a:r>
            <a:endParaRPr lang="en-US" sz="900" dirty="0"/>
          </a:p>
        </p:txBody>
      </p:sp>
      <p:sp>
        <p:nvSpPr>
          <p:cNvPr id="31" name="Text 2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188720" y="3840480"/>
            <a:ext cx="4206240" cy="4206240"/>
          </a:xfrm>
          <a:prstGeom prst="ellipse">
            <a:avLst/>
          </a:prstGeom>
          <a:solidFill>
            <a:srgbClr val="0D9488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-1463040"/>
            <a:ext cx="3840480" cy="3840480"/>
          </a:xfrm>
          <a:prstGeom prst="ellipse">
            <a:avLst/>
          </a:prstGeom>
          <a:solidFill>
            <a:srgbClr val="14B8A6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68680" y="1600200"/>
            <a:ext cx="914400" cy="914400"/>
          </a:xfrm>
          <a:prstGeom prst="ellipse">
            <a:avLst/>
          </a:prstGeom>
          <a:solidFill>
            <a:srgbClr val="0D9488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6424" y="1837944"/>
            <a:ext cx="438912" cy="4389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68680" y="269748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822960" y="3017520"/>
            <a:ext cx="104241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systems: multi-agent, memory &amp; RAG</a:t>
            </a:r>
            <a:endParaRPr lang="en-US" sz="3600" dirty="0"/>
          </a:p>
        </p:txBody>
      </p:sp>
      <p:sp>
        <p:nvSpPr>
          <p:cNvPr id="8" name="Text 5"/>
          <p:cNvSpPr/>
          <p:nvPr/>
        </p:nvSpPr>
        <p:spPr>
          <a:xfrm>
            <a:off x="868680" y="4892040"/>
            <a:ext cx="9601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C7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orchestration: Sequential, Parallel, Loop</a:t>
            </a:r>
            <a:endParaRPr lang="en-US" sz="1450" dirty="0"/>
          </a:p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C7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vs. RAG — the three layers of knowledge</a:t>
            </a:r>
            <a:endParaRPr lang="en-US" sz="1450" dirty="0"/>
          </a:p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C7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RAG agent over your own documents</a:t>
            </a:r>
            <a:endParaRPr lang="en-US" sz="1450" dirty="0"/>
          </a:p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C7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Safety, evaluation &amp; deployment, then a capstone</a:t>
            </a:r>
            <a:endParaRPr lang="en-US" sz="14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0D9488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4601" y="531449"/>
            <a:ext cx="272125" cy="2721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07008" y="384048"/>
            <a:ext cx="10524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· CONCEPT + LAB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207008" y="640080"/>
            <a:ext cx="105247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systems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457200" y="146304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Specialized agents are easier to instruct, test, and reuse than one agent doing everything. ADK gives you three workflow agents: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457200" y="2148840"/>
            <a:ext cx="365760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777240" y="2496312"/>
            <a:ext cx="731520" cy="731520"/>
          </a:xfrm>
          <a:prstGeom prst="ellipse">
            <a:avLst/>
          </a:prstGeom>
          <a:solidFill>
            <a:srgbClr val="0D9488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7435" y="2686507"/>
            <a:ext cx="351130" cy="35113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77240" y="32918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SequentialAgent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777240" y="3630168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sub-agents one after another. Good for pipelines (step 1 → 2 → 3).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4489704" y="2148840"/>
            <a:ext cx="365760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4809744" y="2496312"/>
            <a:ext cx="731520" cy="731520"/>
          </a:xfrm>
          <a:prstGeom prst="ellipse">
            <a:avLst/>
          </a:prstGeom>
          <a:solidFill>
            <a:srgbClr val="0D9488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99939" y="2686507"/>
            <a:ext cx="351130" cy="35113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809744" y="32918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ParallelAgent</a:t>
            </a:r>
            <a:endParaRPr lang="en-US" sz="1500" dirty="0"/>
          </a:p>
        </p:txBody>
      </p:sp>
      <p:sp>
        <p:nvSpPr>
          <p:cNvPr id="16" name="Text 11"/>
          <p:cNvSpPr/>
          <p:nvPr/>
        </p:nvSpPr>
        <p:spPr>
          <a:xfrm>
            <a:off x="4809744" y="3630168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sub-agents at the same time, then gathers. Good for fan-out research.</a:t>
            </a:r>
            <a:endParaRPr lang="en-US" sz="1250" dirty="0"/>
          </a:p>
        </p:txBody>
      </p:sp>
      <p:sp>
        <p:nvSpPr>
          <p:cNvPr id="17" name="Shape 12"/>
          <p:cNvSpPr/>
          <p:nvPr/>
        </p:nvSpPr>
        <p:spPr>
          <a:xfrm>
            <a:off x="8522208" y="2148840"/>
            <a:ext cx="365760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8842248" y="2496312"/>
            <a:ext cx="731520" cy="731520"/>
          </a:xfrm>
          <a:prstGeom prst="ellipse">
            <a:avLst/>
          </a:prstGeom>
          <a:solidFill>
            <a:srgbClr val="0D9488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32443" y="2686507"/>
            <a:ext cx="351130" cy="35113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8842248" y="32918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LoopAgent</a:t>
            </a:r>
            <a:endParaRPr lang="en-US" sz="1500" dirty="0"/>
          </a:p>
        </p:txBody>
      </p:sp>
      <p:sp>
        <p:nvSpPr>
          <p:cNvPr id="21" name="Text 15"/>
          <p:cNvSpPr/>
          <p:nvPr/>
        </p:nvSpPr>
        <p:spPr>
          <a:xfrm>
            <a:off x="8842248" y="3630168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Repeats a sub-agent until a condition is met. Good for draft → critique → improve.</a:t>
            </a:r>
            <a:endParaRPr lang="en-US" sz="1250" dirty="0"/>
          </a:p>
        </p:txBody>
      </p:sp>
      <p:sp>
        <p:nvSpPr>
          <p:cNvPr id="22" name="Shape 16"/>
          <p:cNvSpPr/>
          <p:nvPr/>
        </p:nvSpPr>
        <p:spPr>
          <a:xfrm>
            <a:off x="457200" y="4343400"/>
            <a:ext cx="6858000" cy="1371600"/>
          </a:xfrm>
          <a:prstGeom prst="roundRect">
            <a:avLst>
              <a:gd name="adj" fmla="val 4000"/>
            </a:avLst>
          </a:prstGeom>
          <a:solidFill>
            <a:srgbClr val="0B1B2B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658368" y="4526280"/>
            <a:ext cx="100584" cy="100584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24" name="Shape 18"/>
          <p:cNvSpPr/>
          <p:nvPr/>
        </p:nvSpPr>
        <p:spPr>
          <a:xfrm>
            <a:off x="859536" y="4526280"/>
            <a:ext cx="100584" cy="10058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25" name="Shape 19"/>
          <p:cNvSpPr/>
          <p:nvPr/>
        </p:nvSpPr>
        <p:spPr>
          <a:xfrm>
            <a:off x="1060704" y="4526280"/>
            <a:ext cx="100584" cy="100584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26" name="Text 20"/>
          <p:cNvSpPr/>
          <p:nvPr/>
        </p:nvSpPr>
        <p:spPr>
          <a:xfrm>
            <a:off x="713232" y="480060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root_agent = SequentialAgent(</a:t>
            </a:r>
            <a:endParaRPr lang="en-US" sz="11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name="research_pipeline",</a:t>
            </a:r>
            <a:endParaRPr lang="en-US" sz="11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8BD5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sub_agents=[researcher, writer],  # research, then write</a:t>
            </a:r>
            <a:endParaRPr lang="en-US" sz="1150" dirty="0"/>
          </a:p>
        </p:txBody>
      </p:sp>
      <p:sp>
        <p:nvSpPr>
          <p:cNvPr id="27" name="Shape 21"/>
          <p:cNvSpPr/>
          <p:nvPr/>
        </p:nvSpPr>
        <p:spPr>
          <a:xfrm>
            <a:off x="7589520" y="4343400"/>
            <a:ext cx="4142232" cy="1371600"/>
          </a:xfrm>
          <a:prstGeom prst="roundRect">
            <a:avLst>
              <a:gd name="adj" fmla="val 5333"/>
            </a:avLst>
          </a:prstGeom>
          <a:solidFill>
            <a:srgbClr val="0F2540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28" name="Text 22"/>
          <p:cNvSpPr/>
          <p:nvPr/>
        </p:nvSpPr>
        <p:spPr>
          <a:xfrm>
            <a:off x="7863840" y="4526280"/>
            <a:ext cx="3611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ADK 2.0 under the hood:  </a:t>
            </a:r>
            <a:pPr indent="0" marL="0">
              <a:buNone/>
            </a:pPr>
            <a:r>
              <a:rPr lang="en-US" sz="1250" dirty="0">
                <a:solidFill>
                  <a:srgbClr val="C7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runs as a graph of nodes (the Workflow Runtime).</a:t>
            </a:r>
            <a:endParaRPr lang="en-US" sz="1250" dirty="0"/>
          </a:p>
        </p:txBody>
      </p:sp>
      <p:sp>
        <p:nvSpPr>
          <p:cNvPr id="29" name="Text 2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AI Agents with Google ADK</a:t>
            </a:r>
            <a:endParaRPr lang="en-US" sz="900" dirty="0"/>
          </a:p>
        </p:txBody>
      </p:sp>
      <p:sp>
        <p:nvSpPr>
          <p:cNvPr id="30" name="Text 2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0D9488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4601" y="531449"/>
            <a:ext cx="272125" cy="2721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07008" y="384048"/>
            <a:ext cx="10524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· CONCEPT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207008" y="640080"/>
            <a:ext cx="105247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vs. RAG: three layers of knowledge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457200" y="146304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Beginners conflate these. Be explicit about lifespan and purpose:</a:t>
            </a:r>
            <a:endParaRPr lang="en-US" sz="15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011680"/>
          <a:ext cx="11274552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2743200"/>
                <a:gridCol w="3410712"/>
                <a:gridCol w="2560320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Layer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5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Lifespan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5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Analogy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5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ADK component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540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conversation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Short-term memory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Session state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Memory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Across conversations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searchable archive of past chats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MemoryService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Knowledge base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Your documents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reference library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RAG (Vertex AI RAG Engine)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457200" y="4983480"/>
            <a:ext cx="11274552" cy="1280160"/>
          </a:xfrm>
          <a:prstGeom prst="roundRect">
            <a:avLst>
              <a:gd name="adj" fmla="val 5714"/>
            </a:avLst>
          </a:prstGeom>
          <a:solidFill>
            <a:srgbClr val="ECFDF5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5230368"/>
            <a:ext cx="384048" cy="38404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280160" y="51206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ready-made memory tools</a:t>
            </a:r>
            <a:endParaRPr lang="en-US" sz="1500" dirty="0"/>
          </a:p>
        </p:txBody>
      </p:sp>
      <p:sp>
        <p:nvSpPr>
          <p:cNvPr id="11" name="Text 6"/>
          <p:cNvSpPr/>
          <p:nvPr/>
        </p:nvSpPr>
        <p:spPr>
          <a:xfrm>
            <a:off x="1280160" y="5486400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PreloadMemory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 always pulls relevant memory at the start of a turn.        </a:t>
            </a:r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LoadMemory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 retrieves only when the agent decides it's useful.</a:t>
            </a:r>
            <a:endParaRPr lang="en-US" sz="1300" dirty="0"/>
          </a:p>
        </p:txBody>
      </p:sp>
      <p:sp>
        <p:nvSpPr>
          <p:cNvPr id="12" name="Text 7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AI Agents with Google ADK</a:t>
            </a:r>
            <a:endParaRPr lang="en-US" sz="900" dirty="0"/>
          </a:p>
        </p:txBody>
      </p:sp>
      <p:sp>
        <p:nvSpPr>
          <p:cNvPr id="13" name="Text 8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0D9488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4601" y="531449"/>
            <a:ext cx="272125" cy="2721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07008" y="384048"/>
            <a:ext cx="10524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· CONCEPT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207008" y="640080"/>
            <a:ext cx="105247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RAG, really?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457200" y="14630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RAG = Retrieval-Augmented Generation. </a:t>
            </a:r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 relevant text from your documents, put it in the prompt, then let the model answer — grounded in real sources, not made up.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457200" y="2240280"/>
            <a:ext cx="36118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713232" y="2551176"/>
            <a:ext cx="603504" cy="603504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9" name="Text 6"/>
          <p:cNvSpPr/>
          <p:nvPr/>
        </p:nvSpPr>
        <p:spPr>
          <a:xfrm>
            <a:off x="713232" y="2551176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1463040" y="2496312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1463040" y="2898648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files (local, GCS, Drive)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4288536" y="2240280"/>
            <a:ext cx="36118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544568" y="2551176"/>
            <a:ext cx="603504" cy="603504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4" name="Text 11"/>
          <p:cNvSpPr/>
          <p:nvPr/>
        </p:nvSpPr>
        <p:spPr>
          <a:xfrm>
            <a:off x="4544568" y="2551176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5294376" y="2496312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Chunking</a:t>
            </a:r>
            <a:endParaRPr lang="en-US" sz="1700" dirty="0"/>
          </a:p>
        </p:txBody>
      </p:sp>
      <p:sp>
        <p:nvSpPr>
          <p:cNvPr id="16" name="Text 13"/>
          <p:cNvSpPr/>
          <p:nvPr/>
        </p:nvSpPr>
        <p:spPr>
          <a:xfrm>
            <a:off x="5294376" y="2898648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docs into passages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8119872" y="2240280"/>
            <a:ext cx="36118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8375904" y="2551176"/>
            <a:ext cx="603504" cy="603504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9" name="Text 16"/>
          <p:cNvSpPr/>
          <p:nvPr/>
        </p:nvSpPr>
        <p:spPr>
          <a:xfrm>
            <a:off x="8375904" y="2551176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20" name="Text 17"/>
          <p:cNvSpPr/>
          <p:nvPr/>
        </p:nvSpPr>
        <p:spPr>
          <a:xfrm>
            <a:off x="9125712" y="2496312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</a:t>
            </a:r>
            <a:endParaRPr lang="en-US" sz="1700" dirty="0"/>
          </a:p>
        </p:txBody>
      </p:sp>
      <p:sp>
        <p:nvSpPr>
          <p:cNvPr id="21" name="Text 18"/>
          <p:cNvSpPr/>
          <p:nvPr/>
        </p:nvSpPr>
        <p:spPr>
          <a:xfrm>
            <a:off x="9125712" y="2898648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→ meaning vectors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457200" y="3749040"/>
            <a:ext cx="36118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713232" y="4059936"/>
            <a:ext cx="603504" cy="603504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4" name="Text 21"/>
          <p:cNvSpPr/>
          <p:nvPr/>
        </p:nvSpPr>
        <p:spPr>
          <a:xfrm>
            <a:off x="713232" y="4059936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5" name="Text 22"/>
          <p:cNvSpPr/>
          <p:nvPr/>
        </p:nvSpPr>
        <p:spPr>
          <a:xfrm>
            <a:off x="1463040" y="4005072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Indexing</a:t>
            </a:r>
            <a:endParaRPr lang="en-US" sz="1700" dirty="0"/>
          </a:p>
        </p:txBody>
      </p:sp>
      <p:sp>
        <p:nvSpPr>
          <p:cNvPr id="26" name="Text 23"/>
          <p:cNvSpPr/>
          <p:nvPr/>
        </p:nvSpPr>
        <p:spPr>
          <a:xfrm>
            <a:off x="1463040" y="4407408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vectors in a Corpus</a:t>
            </a:r>
            <a:endParaRPr lang="en-US" sz="1250" dirty="0"/>
          </a:p>
        </p:txBody>
      </p:sp>
      <p:sp>
        <p:nvSpPr>
          <p:cNvPr id="27" name="Shape 24"/>
          <p:cNvSpPr/>
          <p:nvPr/>
        </p:nvSpPr>
        <p:spPr>
          <a:xfrm>
            <a:off x="4288536" y="3749040"/>
            <a:ext cx="36118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4544568" y="4059936"/>
            <a:ext cx="603504" cy="603504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9" name="Text 26"/>
          <p:cNvSpPr/>
          <p:nvPr/>
        </p:nvSpPr>
        <p:spPr>
          <a:xfrm>
            <a:off x="4544568" y="4059936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200" dirty="0"/>
          </a:p>
        </p:txBody>
      </p:sp>
      <p:sp>
        <p:nvSpPr>
          <p:cNvPr id="30" name="Text 27"/>
          <p:cNvSpPr/>
          <p:nvPr/>
        </p:nvSpPr>
        <p:spPr>
          <a:xfrm>
            <a:off x="5294376" y="4005072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</a:t>
            </a:r>
            <a:endParaRPr lang="en-US" sz="1700" dirty="0"/>
          </a:p>
        </p:txBody>
      </p:sp>
      <p:sp>
        <p:nvSpPr>
          <p:cNvPr id="31" name="Text 28"/>
          <p:cNvSpPr/>
          <p:nvPr/>
        </p:nvSpPr>
        <p:spPr>
          <a:xfrm>
            <a:off x="5294376" y="4407408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the most similar chunks</a:t>
            </a:r>
            <a:endParaRPr lang="en-US" sz="1250" dirty="0"/>
          </a:p>
        </p:txBody>
      </p:sp>
      <p:sp>
        <p:nvSpPr>
          <p:cNvPr id="32" name="Shape 29"/>
          <p:cNvSpPr/>
          <p:nvPr/>
        </p:nvSpPr>
        <p:spPr>
          <a:xfrm>
            <a:off x="8119872" y="3749040"/>
            <a:ext cx="36118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33" name="Shape 30"/>
          <p:cNvSpPr/>
          <p:nvPr/>
        </p:nvSpPr>
        <p:spPr>
          <a:xfrm>
            <a:off x="8375904" y="4059936"/>
            <a:ext cx="603504" cy="603504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34" name="Text 31"/>
          <p:cNvSpPr/>
          <p:nvPr/>
        </p:nvSpPr>
        <p:spPr>
          <a:xfrm>
            <a:off x="8375904" y="4059936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200" dirty="0"/>
          </a:p>
        </p:txBody>
      </p:sp>
      <p:sp>
        <p:nvSpPr>
          <p:cNvPr id="35" name="Text 32"/>
          <p:cNvSpPr/>
          <p:nvPr/>
        </p:nvSpPr>
        <p:spPr>
          <a:xfrm>
            <a:off x="9125712" y="4005072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Generation</a:t>
            </a:r>
            <a:endParaRPr lang="en-US" sz="1700" dirty="0"/>
          </a:p>
        </p:txBody>
      </p:sp>
      <p:sp>
        <p:nvSpPr>
          <p:cNvPr id="36" name="Text 33"/>
          <p:cNvSpPr/>
          <p:nvPr/>
        </p:nvSpPr>
        <p:spPr>
          <a:xfrm>
            <a:off x="9125712" y="4407408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answers from those chunks</a:t>
            </a:r>
            <a:endParaRPr lang="en-US" sz="1250" dirty="0"/>
          </a:p>
        </p:txBody>
      </p:sp>
      <p:sp>
        <p:nvSpPr>
          <p:cNvPr id="37" name="Shape 34"/>
          <p:cNvSpPr/>
          <p:nvPr/>
        </p:nvSpPr>
        <p:spPr>
          <a:xfrm>
            <a:off x="457200" y="5440680"/>
            <a:ext cx="11274552" cy="777240"/>
          </a:xfrm>
          <a:prstGeom prst="roundRect">
            <a:avLst>
              <a:gd name="adj" fmla="val 7059"/>
            </a:avLst>
          </a:prstGeom>
          <a:solidFill>
            <a:srgbClr val="0F2540"/>
          </a:solidFill>
          <a:ln/>
        </p:spPr>
      </p:sp>
      <p:sp>
        <p:nvSpPr>
          <p:cNvPr id="38" name="Text 35"/>
          <p:cNvSpPr/>
          <p:nvPr/>
        </p:nvSpPr>
        <p:spPr>
          <a:xfrm>
            <a:off x="731520" y="5532120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The key insight: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doesn't "learn" your documents — it reads the relevant pieces fresh, every time it's asked.</a:t>
            </a:r>
            <a:endParaRPr lang="en-US" sz="1400" dirty="0"/>
          </a:p>
        </p:txBody>
      </p:sp>
      <p:sp>
        <p:nvSpPr>
          <p:cNvPr id="39" name="Text 36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AI Agents with Google ADK</a:t>
            </a:r>
            <a:endParaRPr lang="en-US" sz="900" dirty="0"/>
          </a:p>
        </p:txBody>
      </p:sp>
      <p:sp>
        <p:nvSpPr>
          <p:cNvPr id="40" name="Text 3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0D9488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4601" y="531449"/>
            <a:ext cx="272125" cy="2721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07008" y="384048"/>
            <a:ext cx="10524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· LAB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207008" y="640080"/>
            <a:ext cx="105247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RAG agent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457200" y="146304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ADK exposes RAG as a built-in retrieval tool. The agent calls it like any other tool; ADK handles embedding + similarity search against your Corpus.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457200" y="2057400"/>
            <a:ext cx="7040880" cy="3611880"/>
          </a:xfrm>
          <a:prstGeom prst="roundRect">
            <a:avLst>
              <a:gd name="adj" fmla="val 1519"/>
            </a:avLst>
          </a:prstGeom>
          <a:solidFill>
            <a:srgbClr val="0B1B2B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658368" y="2240280"/>
            <a:ext cx="100584" cy="100584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9" name="Shape 6"/>
          <p:cNvSpPr/>
          <p:nvPr/>
        </p:nvSpPr>
        <p:spPr>
          <a:xfrm>
            <a:off x="859536" y="2240280"/>
            <a:ext cx="100584" cy="10058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0" name="Shape 7"/>
          <p:cNvSpPr/>
          <p:nvPr/>
        </p:nvSpPr>
        <p:spPr>
          <a:xfrm>
            <a:off x="1060704" y="2240280"/>
            <a:ext cx="100584" cy="100584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1" name="Text 8"/>
          <p:cNvSpPr/>
          <p:nvPr/>
        </p:nvSpPr>
        <p:spPr>
          <a:xfrm>
            <a:off x="713232" y="2514600"/>
            <a:ext cx="6583680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8BD5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google.adk.agents import Agent</a:t>
            </a:r>
            <a:endParaRPr lang="en-US" sz="11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8BD5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google.adk.tools.retrieval.vertex_ai_rag_retrieval \</a:t>
            </a:r>
            <a:endParaRPr lang="en-US" sz="11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8BD5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import VertexAiRagRetrieval</a:t>
            </a:r>
            <a:endParaRPr lang="en-US" sz="1150" dirty="0"/>
          </a:p>
          <a:p>
            <a:pPr algn="l" indent="0" marL="0">
              <a:lnSpc>
                <a:spcPct val="108000"/>
              </a:lnSpc>
              <a:buNone/>
            </a:pPr>
            <a:endParaRPr lang="en-US" sz="11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rag_tool = VertexAiRagRetrieval(</a:t>
            </a:r>
            <a:endParaRPr lang="en-US" sz="11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name="retrieve_docs",</a:t>
            </a:r>
            <a:endParaRPr lang="en-US" sz="11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rag_resources=[...your Corpus...],</a:t>
            </a:r>
            <a:endParaRPr lang="en-US" sz="11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FBBF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similarity_top_k=5,        # chunks to pull</a:t>
            </a:r>
            <a:endParaRPr lang="en-US" sz="11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FBBF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vector_distance_threshold=0.5)</a:t>
            </a:r>
            <a:endParaRPr lang="en-US" sz="1150" dirty="0"/>
          </a:p>
          <a:p>
            <a:pPr algn="l" indent="0" marL="0">
              <a:lnSpc>
                <a:spcPct val="108000"/>
              </a:lnSpc>
              <a:buNone/>
            </a:pPr>
            <a:endParaRPr lang="en-US" sz="11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root_agent = Agent(name="docs_assistant",</a:t>
            </a:r>
            <a:endParaRPr lang="en-US" sz="11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model="gemini-2.0-flash",</a:t>
            </a:r>
            <a:endParaRPr lang="en-US" sz="11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8BD5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tools=[rag_tool])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7772400" y="205740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steps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7772400" y="2542032"/>
            <a:ext cx="384048" cy="384048"/>
          </a:xfrm>
          <a:prstGeom prst="ellipse">
            <a:avLst/>
          </a:prstGeom>
          <a:solidFill>
            <a:srgbClr val="ECFDF5"/>
          </a:solidFill>
          <a:ln/>
        </p:spPr>
      </p:sp>
      <p:sp>
        <p:nvSpPr>
          <p:cNvPr id="14" name="Text 11"/>
          <p:cNvSpPr/>
          <p:nvPr/>
        </p:nvSpPr>
        <p:spPr>
          <a:xfrm>
            <a:off x="7772400" y="25420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8275320" y="246888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the agent at a shared Corpus; run in adk web.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7772400" y="3291840"/>
            <a:ext cx="384048" cy="384048"/>
          </a:xfrm>
          <a:prstGeom prst="ellipse">
            <a:avLst/>
          </a:prstGeom>
          <a:solidFill>
            <a:srgbClr val="ECFDF5"/>
          </a:solidFill>
          <a:ln/>
        </p:spPr>
      </p:sp>
      <p:sp>
        <p:nvSpPr>
          <p:cNvPr id="17" name="Text 14"/>
          <p:cNvSpPr/>
          <p:nvPr/>
        </p:nvSpPr>
        <p:spPr>
          <a:xfrm>
            <a:off x="7772400" y="3291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8275320" y="3218688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something IN the docs — watch retrieval in the trace.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7772400" y="4041648"/>
            <a:ext cx="384048" cy="384048"/>
          </a:xfrm>
          <a:prstGeom prst="ellipse">
            <a:avLst/>
          </a:prstGeom>
          <a:solidFill>
            <a:srgbClr val="ECFDF5"/>
          </a:solidFill>
          <a:ln/>
        </p:spPr>
      </p:sp>
      <p:sp>
        <p:nvSpPr>
          <p:cNvPr id="20" name="Text 17"/>
          <p:cNvSpPr/>
          <p:nvPr/>
        </p:nvSpPr>
        <p:spPr>
          <a:xfrm>
            <a:off x="7772400" y="40416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8275320" y="3968496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something NOT in the docs — it should say "I don't know."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7772400" y="4791456"/>
            <a:ext cx="384048" cy="384048"/>
          </a:xfrm>
          <a:prstGeom prst="ellipse">
            <a:avLst/>
          </a:prstGeom>
          <a:solidFill>
            <a:srgbClr val="ECFDF5"/>
          </a:solidFill>
          <a:ln/>
        </p:spPr>
      </p:sp>
      <p:sp>
        <p:nvSpPr>
          <p:cNvPr id="23" name="Text 20"/>
          <p:cNvSpPr/>
          <p:nvPr/>
        </p:nvSpPr>
        <p:spPr>
          <a:xfrm>
            <a:off x="7772400" y="47914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8275320" y="4718304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 similarity_top_k and discuss the tradeoff.</a:t>
            </a:r>
            <a:endParaRPr lang="en-US" sz="1250" dirty="0"/>
          </a:p>
        </p:txBody>
      </p:sp>
      <p:sp>
        <p:nvSpPr>
          <p:cNvPr id="25" name="Text 22"/>
          <p:cNvSpPr/>
          <p:nvPr/>
        </p:nvSpPr>
        <p:spPr>
          <a:xfrm>
            <a:off x="7772400" y="5486400"/>
            <a:ext cx="3977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 it to answer ONLY from retrieved text — that's what makes it grounded.</a:t>
            </a:r>
            <a:endParaRPr lang="en-US" sz="1150" dirty="0"/>
          </a:p>
        </p:txBody>
      </p:sp>
      <p:sp>
        <p:nvSpPr>
          <p:cNvPr id="26" name="Text 2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AI Agents with Google ADK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0D9488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4601" y="531449"/>
            <a:ext cx="272125" cy="2721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07008" y="384048"/>
            <a:ext cx="10524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· CONCEPT + LAB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207008" y="640080"/>
            <a:ext cx="105247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Safety, callbacks &amp; evaluation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457200" y="1645920"/>
            <a:ext cx="5532120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22960" y="2011680"/>
            <a:ext cx="777240" cy="777240"/>
          </a:xfrm>
          <a:prstGeom prst="ellipse">
            <a:avLst/>
          </a:prstGeom>
          <a:solidFill>
            <a:srgbClr val="0D9488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5042" y="2213762"/>
            <a:ext cx="373075" cy="373075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783080" y="2148840"/>
            <a:ext cx="3977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Callbacks</a:t>
            </a:r>
            <a:endParaRPr lang="en-US" sz="2000" dirty="0"/>
          </a:p>
        </p:txBody>
      </p:sp>
      <p:sp>
        <p:nvSpPr>
          <p:cNvPr id="10" name="Text 6"/>
          <p:cNvSpPr/>
          <p:nvPr/>
        </p:nvSpPr>
        <p:spPr>
          <a:xfrm>
            <a:off x="822960" y="2971800"/>
            <a:ext cx="48006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Hooks into the agent lifecycle (before/after agent &amp; tool). Use for logging, input validation, and guardrails. In ADK 2.0 this is the correct place for custom logic.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6199632" y="1645920"/>
            <a:ext cx="5532120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6565392" y="2011680"/>
            <a:ext cx="777240" cy="777240"/>
          </a:xfrm>
          <a:prstGeom prst="ellipse">
            <a:avLst/>
          </a:prstGeom>
          <a:solidFill>
            <a:srgbClr val="0D9488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7474" y="2213762"/>
            <a:ext cx="373075" cy="373075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525512" y="2148840"/>
            <a:ext cx="3977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2000" dirty="0"/>
          </a:p>
        </p:txBody>
      </p:sp>
      <p:sp>
        <p:nvSpPr>
          <p:cNvPr id="15" name="Text 10"/>
          <p:cNvSpPr/>
          <p:nvPr/>
        </p:nvSpPr>
        <p:spPr>
          <a:xfrm>
            <a:off x="6565392" y="2971800"/>
            <a:ext cx="48006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are non-deterministic — "it worked once" isn't enough. ADK's eval framework runs defined test cases (input + expected behavior) repeatedly.</a:t>
            </a:r>
            <a:endParaRPr lang="en-US" sz="1400" dirty="0"/>
          </a:p>
        </p:txBody>
      </p:sp>
      <p:sp>
        <p:nvSpPr>
          <p:cNvPr id="16" name="Shape 11"/>
          <p:cNvSpPr/>
          <p:nvPr/>
        </p:nvSpPr>
        <p:spPr>
          <a:xfrm>
            <a:off x="457200" y="4663440"/>
            <a:ext cx="11274552" cy="1005840"/>
          </a:xfrm>
          <a:prstGeom prst="roundRect">
            <a:avLst>
              <a:gd name="adj" fmla="val 5455"/>
            </a:avLst>
          </a:prstGeom>
          <a:solidFill>
            <a:srgbClr val="0F2540"/>
          </a:solidFill>
          <a:ln/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983480"/>
            <a:ext cx="365760" cy="36576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280160" y="4800600"/>
            <a:ext cx="10241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Migration note:  </a:t>
            </a:r>
            <a:pPr indent="0" marL="0">
              <a:buNone/>
            </a:pPr>
            <a:r>
              <a:rPr lang="en-US" sz="1350" dirty="0">
                <a:solidFill>
                  <a:srgbClr val="C7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ADK 2.0 ignores custom _run_async_impl() overrides — the graph engine bypasses them. Move that logic into BeforeAgentCallback / AfterAgentCallback.</a:t>
            </a:r>
            <a:endParaRPr lang="en-US" sz="1350" dirty="0"/>
          </a:p>
        </p:txBody>
      </p:sp>
      <p:sp>
        <p:nvSpPr>
          <p:cNvPr id="19" name="Text 1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AI Agents with Google ADK</a:t>
            </a:r>
            <a:endParaRPr lang="en-US" sz="900" dirty="0"/>
          </a:p>
        </p:txBody>
      </p:sp>
      <p:sp>
        <p:nvSpPr>
          <p:cNvPr id="20" name="Text 1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0D9488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4601" y="531449"/>
            <a:ext cx="272125" cy="2721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07008" y="384048"/>
            <a:ext cx="10524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· CONCEPT + DEMO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207008" y="640080"/>
            <a:ext cx="105247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457200" y="146304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agent code goes to production with minimal change. Three main targets: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457200" y="2148840"/>
            <a:ext cx="365760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822960" y="2514600"/>
            <a:ext cx="822960" cy="822960"/>
          </a:xfrm>
          <a:prstGeom prst="ellipse">
            <a:avLst/>
          </a:prstGeom>
          <a:solidFill>
            <a:srgbClr val="0D9488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930" y="2728570"/>
            <a:ext cx="395021" cy="395021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22960" y="34747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Run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822960" y="3931920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simplest container deployment. Great default for a single service.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4489704" y="2148840"/>
            <a:ext cx="365760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4855464" y="2514600"/>
            <a:ext cx="822960" cy="822960"/>
          </a:xfrm>
          <a:prstGeom prst="ellipse">
            <a:avLst/>
          </a:prstGeom>
          <a:solidFill>
            <a:srgbClr val="0D9488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69434" y="2728570"/>
            <a:ext cx="395021" cy="395021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855464" y="34747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GKE</a:t>
            </a:r>
            <a:endParaRPr lang="en-US" sz="1800" dirty="0"/>
          </a:p>
        </p:txBody>
      </p:sp>
      <p:sp>
        <p:nvSpPr>
          <p:cNvPr id="16" name="Text 11"/>
          <p:cNvSpPr/>
          <p:nvPr/>
        </p:nvSpPr>
        <p:spPr>
          <a:xfrm>
            <a:off x="4855464" y="3931920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teams already running on Kubernetes and managing their own clusters.</a:t>
            </a:r>
            <a:endParaRPr lang="en-US" sz="1300" dirty="0"/>
          </a:p>
        </p:txBody>
      </p:sp>
      <p:sp>
        <p:nvSpPr>
          <p:cNvPr id="17" name="Shape 12"/>
          <p:cNvSpPr/>
          <p:nvPr/>
        </p:nvSpPr>
        <p:spPr>
          <a:xfrm>
            <a:off x="8522208" y="2148840"/>
            <a:ext cx="365760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8887968" y="2514600"/>
            <a:ext cx="822960" cy="822960"/>
          </a:xfrm>
          <a:prstGeom prst="ellipse">
            <a:avLst/>
          </a:prstGeom>
          <a:solidFill>
            <a:srgbClr val="0D9488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01938" y="2728570"/>
            <a:ext cx="395021" cy="395021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8887968" y="34747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Engine / Runtime</a:t>
            </a:r>
            <a:endParaRPr lang="en-US" sz="1800" dirty="0"/>
          </a:p>
        </p:txBody>
      </p:sp>
      <p:sp>
        <p:nvSpPr>
          <p:cNvPr id="21" name="Text 15"/>
          <p:cNvSpPr/>
          <p:nvPr/>
        </p:nvSpPr>
        <p:spPr>
          <a:xfrm>
            <a:off x="8887968" y="3931920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managed — built-in auth, sessions, memory &amp; Cloud Trace observability.</a:t>
            </a:r>
            <a:endParaRPr lang="en-US" sz="1300" dirty="0"/>
          </a:p>
        </p:txBody>
      </p:sp>
      <p:sp>
        <p:nvSpPr>
          <p:cNvPr id="22" name="Shape 16"/>
          <p:cNvSpPr/>
          <p:nvPr/>
        </p:nvSpPr>
        <p:spPr>
          <a:xfrm>
            <a:off x="457200" y="4846320"/>
            <a:ext cx="11274552" cy="841248"/>
          </a:xfrm>
          <a:prstGeom prst="roundRect">
            <a:avLst>
              <a:gd name="adj" fmla="val 8696"/>
            </a:avLst>
          </a:prstGeom>
          <a:solidFill>
            <a:srgbClr val="ECFDF5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808" y="5074920"/>
            <a:ext cx="384048" cy="384048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1280160" y="4937760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this a live demo, not a lab — a single deploy command is more convincing than slides.</a:t>
            </a:r>
            <a:endParaRPr lang="en-US" sz="1350" dirty="0"/>
          </a:p>
        </p:txBody>
      </p:sp>
      <p:sp>
        <p:nvSpPr>
          <p:cNvPr id="25" name="Text 18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AI Agents with Google ADK</a:t>
            </a:r>
            <a:endParaRPr lang="en-US" sz="900" dirty="0"/>
          </a:p>
        </p:txBody>
      </p:sp>
      <p:sp>
        <p:nvSpPr>
          <p:cNvPr id="26" name="Text 19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0D9488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4601" y="531449"/>
            <a:ext cx="272125" cy="2721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07008" y="384048"/>
            <a:ext cx="10524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· LAB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207008" y="640080"/>
            <a:ext cx="105247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Capstone: combine the pieces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457200" y="146304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person or pair builds one small project, then demos it in adk web and walks the room through an interesting trace.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457200" y="2194560"/>
            <a:ext cx="3657600" cy="283464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822960" y="2560320"/>
            <a:ext cx="822960" cy="822960"/>
          </a:xfrm>
          <a:prstGeom prst="ellipse">
            <a:avLst/>
          </a:prstGeom>
          <a:solidFill>
            <a:srgbClr val="0D9488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930" y="2774290"/>
            <a:ext cx="395021" cy="395021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22960" y="35204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1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822960" y="3776472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 Q&amp;A agent</a:t>
            </a:r>
            <a:endParaRPr lang="en-US" sz="1800" dirty="0"/>
          </a:p>
        </p:txBody>
      </p:sp>
      <p:sp>
        <p:nvSpPr>
          <p:cNvPr id="12" name="Text 8"/>
          <p:cNvSpPr/>
          <p:nvPr/>
        </p:nvSpPr>
        <p:spPr>
          <a:xfrm>
            <a:off x="822960" y="429768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over a document set + google_search as a fallback for anything not in the corpus.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4489704" y="2194560"/>
            <a:ext cx="3657600" cy="283464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4855464" y="2560320"/>
            <a:ext cx="822960" cy="822960"/>
          </a:xfrm>
          <a:prstGeom prst="ellipse">
            <a:avLst/>
          </a:prstGeom>
          <a:solidFill>
            <a:srgbClr val="0D9488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69434" y="2774290"/>
            <a:ext cx="395021" cy="395021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4855464" y="35204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2</a:t>
            </a:r>
            <a:endParaRPr lang="en-US" sz="1100" dirty="0"/>
          </a:p>
        </p:txBody>
      </p:sp>
      <p:sp>
        <p:nvSpPr>
          <p:cNvPr id="17" name="Text 12"/>
          <p:cNvSpPr/>
          <p:nvPr/>
        </p:nvSpPr>
        <p:spPr>
          <a:xfrm>
            <a:off x="4855464" y="3776472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→ report pipeline</a:t>
            </a:r>
            <a:endParaRPr lang="en-US" sz="1800" dirty="0"/>
          </a:p>
        </p:txBody>
      </p:sp>
      <p:sp>
        <p:nvSpPr>
          <p:cNvPr id="18" name="Text 13"/>
          <p:cNvSpPr/>
          <p:nvPr/>
        </p:nvSpPr>
        <p:spPr>
          <a:xfrm>
            <a:off x="4855464" y="429768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SequentialAgent of researcher → fact-checker → writer producing a clean summary.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8522208" y="2194560"/>
            <a:ext cx="3657600" cy="283464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8887968" y="2560320"/>
            <a:ext cx="822960" cy="822960"/>
          </a:xfrm>
          <a:prstGeom prst="ellipse">
            <a:avLst/>
          </a:prstGeom>
          <a:solidFill>
            <a:srgbClr val="0D9488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01938" y="2774290"/>
            <a:ext cx="395021" cy="395021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887968" y="35204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3</a:t>
            </a:r>
            <a:endParaRPr lang="en-US" sz="1100" dirty="0"/>
          </a:p>
        </p:txBody>
      </p:sp>
      <p:sp>
        <p:nvSpPr>
          <p:cNvPr id="23" name="Text 17"/>
          <p:cNvSpPr/>
          <p:nvPr/>
        </p:nvSpPr>
        <p:spPr>
          <a:xfrm>
            <a:off x="8887968" y="3776472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triage agent</a:t>
            </a:r>
            <a:endParaRPr lang="en-US" sz="1800" dirty="0"/>
          </a:p>
        </p:txBody>
      </p:sp>
      <p:sp>
        <p:nvSpPr>
          <p:cNvPr id="24" name="Text 18"/>
          <p:cNvSpPr/>
          <p:nvPr/>
        </p:nvSpPr>
        <p:spPr>
          <a:xfrm>
            <a:off x="8887968" y="429768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coordinator that delegates to specialist sub-agents based on the request type.</a:t>
            </a:r>
            <a:endParaRPr lang="en-US" sz="1300" dirty="0"/>
          </a:p>
        </p:txBody>
      </p:sp>
      <p:sp>
        <p:nvSpPr>
          <p:cNvPr id="25" name="Text 19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AI Agents with Google ADK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F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-1371600"/>
            <a:ext cx="4206240" cy="4206240"/>
          </a:xfrm>
          <a:prstGeom prst="ellipse">
            <a:avLst/>
          </a:prstGeom>
          <a:solidFill>
            <a:srgbClr val="0D9488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241280" y="4023360"/>
            <a:ext cx="3657600" cy="3657600"/>
          </a:xfrm>
          <a:prstGeom prst="ellipse">
            <a:avLst/>
          </a:prstGeom>
          <a:solidFill>
            <a:srgbClr val="14B8A6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68680" y="777240"/>
            <a:ext cx="868680" cy="868680"/>
          </a:xfrm>
          <a:prstGeom prst="ellipse">
            <a:avLst/>
          </a:prstGeom>
          <a:solidFill>
            <a:srgbClr val="0D9488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4537" y="1003097"/>
            <a:ext cx="416966" cy="41696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920240" y="8686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full picture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920240" y="1170432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one agent to a deployed system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1920240" y="1874520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7D6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  →  Tools  →  Runner &amp; Session/State  →  Multi-agent  →  Memory &amp; RAG  →  Deploy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68680" y="26974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beginner pitfalls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868680" y="3200400"/>
            <a:ext cx="5349240" cy="1005840"/>
          </a:xfrm>
          <a:prstGeom prst="roundRect">
            <a:avLst>
              <a:gd name="adj" fmla="val 5455"/>
            </a:avLst>
          </a:prstGeom>
          <a:solidFill>
            <a:srgbClr val="16324F"/>
          </a:solidFill>
          <a:ln/>
        </p:spPr>
      </p:sp>
      <p:sp>
        <p:nvSpPr>
          <p:cNvPr id="11" name="Text 8"/>
          <p:cNvSpPr/>
          <p:nvPr/>
        </p:nvSpPr>
        <p:spPr>
          <a:xfrm>
            <a:off x="1143000" y="3346704"/>
            <a:ext cx="4800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not found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1143000" y="3675888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7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root_agent, or adk web run from the wrong folder.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6492240" y="3200400"/>
            <a:ext cx="5349240" cy="1005840"/>
          </a:xfrm>
          <a:prstGeom prst="roundRect">
            <a:avLst>
              <a:gd name="adj" fmla="val 5455"/>
            </a:avLst>
          </a:prstGeom>
          <a:solidFill>
            <a:srgbClr val="16324F"/>
          </a:solidFill>
          <a:ln/>
        </p:spPr>
      </p:sp>
      <p:sp>
        <p:nvSpPr>
          <p:cNvPr id="14" name="Text 11"/>
          <p:cNvSpPr/>
          <p:nvPr/>
        </p:nvSpPr>
        <p:spPr>
          <a:xfrm>
            <a:off x="6766560" y="3346704"/>
            <a:ext cx="4800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never called</a:t>
            </a:r>
            <a:endParaRPr lang="en-US" sz="1450" dirty="0"/>
          </a:p>
        </p:txBody>
      </p:sp>
      <p:sp>
        <p:nvSpPr>
          <p:cNvPr id="15" name="Text 12"/>
          <p:cNvSpPr/>
          <p:nvPr/>
        </p:nvSpPr>
        <p:spPr>
          <a:xfrm>
            <a:off x="6766560" y="3675888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7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Vague or missing docstring — the model can't tell when to use it.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868680" y="4462272"/>
            <a:ext cx="5349240" cy="1005840"/>
          </a:xfrm>
          <a:prstGeom prst="roundRect">
            <a:avLst>
              <a:gd name="adj" fmla="val 5455"/>
            </a:avLst>
          </a:prstGeom>
          <a:solidFill>
            <a:srgbClr val="16324F"/>
          </a:solidFill>
          <a:ln/>
        </p:spPr>
      </p:sp>
      <p:sp>
        <p:nvSpPr>
          <p:cNvPr id="17" name="Text 14"/>
          <p:cNvSpPr/>
          <p:nvPr/>
        </p:nvSpPr>
        <p:spPr>
          <a:xfrm>
            <a:off x="1143000" y="4608576"/>
            <a:ext cx="4800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returns nothing</a:t>
            </a:r>
            <a:endParaRPr lang="en-US" sz="1450" dirty="0"/>
          </a:p>
        </p:txBody>
      </p:sp>
      <p:sp>
        <p:nvSpPr>
          <p:cNvPr id="18" name="Text 15"/>
          <p:cNvSpPr/>
          <p:nvPr/>
        </p:nvSpPr>
        <p:spPr>
          <a:xfrm>
            <a:off x="1143000" y="4937760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7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too strict, or empty / wrong Corpus ID.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6492240" y="4462272"/>
            <a:ext cx="5349240" cy="1005840"/>
          </a:xfrm>
          <a:prstGeom prst="roundRect">
            <a:avLst>
              <a:gd name="adj" fmla="val 5455"/>
            </a:avLst>
          </a:prstGeom>
          <a:solidFill>
            <a:srgbClr val="16324F"/>
          </a:solidFill>
          <a:ln/>
        </p:spPr>
      </p:sp>
      <p:sp>
        <p:nvSpPr>
          <p:cNvPr id="20" name="Text 17"/>
          <p:cNvSpPr/>
          <p:nvPr/>
        </p:nvSpPr>
        <p:spPr>
          <a:xfrm>
            <a:off x="6766560" y="4608576"/>
            <a:ext cx="4800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Hallucinated answers</a:t>
            </a:r>
            <a:endParaRPr lang="en-US" sz="1450" dirty="0"/>
          </a:p>
        </p:txBody>
      </p:sp>
      <p:sp>
        <p:nvSpPr>
          <p:cNvPr id="21" name="Text 18"/>
          <p:cNvSpPr/>
          <p:nvPr/>
        </p:nvSpPr>
        <p:spPr>
          <a:xfrm>
            <a:off x="6766560" y="4937760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7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Instruction didn't say "answer only from retrieved text."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868680" y="59436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steps:  the official ADK docs, the sample-agent gallery, and the evaluation framework for reliability.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0D9488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10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4601" y="531449"/>
            <a:ext cx="272125" cy="272125"/>
          </a:xfrm>
          <a:prstGeom prst="rect">
            <a:avLst/>
          </a:prstGeom>
        </p:spPr>
      </p:pic>
      <p:sp>
        <p:nvSpPr>
          <p:cNvPr id="103" name="Text 103"/>
          <p:cNvSpPr/>
          <p:nvPr/>
        </p:nvSpPr>
        <p:spPr>
          <a:xfrm>
            <a:off x="1207008" y="384048"/>
            <a:ext cx="10524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· CONCEPT</a:t>
            </a:r>
          </a:p>
        </p:txBody>
      </p:sp>
      <p:sp>
        <p:nvSpPr>
          <p:cNvPr id="104" name="Text 104"/>
          <p:cNvSpPr/>
          <p:nvPr/>
        </p:nvSpPr>
        <p:spPr>
          <a:xfrm>
            <a:off x="1207008" y="640080"/>
            <a:ext cx="105247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kern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PDF to clean text: parsing</a:t>
            </a:r>
          </a:p>
        </p:txBody>
      </p:sp>
      <p:sp>
        <p:nvSpPr>
          <p:cNvPr id="201" name="Text 201"/>
          <p:cNvSpPr/>
          <p:nvPr/>
        </p:nvSpPr>
        <p:spPr>
          <a:xfrm>
            <a:off x="457200" y="1463040"/>
            <a:ext cx="11247120" cy="5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A PDF parser </a:t>
            </a:r>
            <a:r>
              <a:rPr lang="en-US" sz="1500" kern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turns a messy file into clean, ordered text — the raw material every chunk and embedding is built from.</a:t>
            </a:r>
          </a:p>
        </p:txBody>
      </p:sp>
      <p:sp>
        <p:nvSpPr>
          <p:cNvPr id="202" name="Card 202"/>
          <p:cNvSpPr/>
          <p:nvPr/>
        </p:nvSpPr>
        <p:spPr>
          <a:xfrm>
            <a:off x="457200" y="2210000"/>
            <a:ext cx="3611880" cy="236000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203" name="Text 203"/>
          <p:cNvSpPr/>
          <p:nvPr/>
        </p:nvSpPr>
        <p:spPr>
          <a:xfrm>
            <a:off x="737200" y="2470000"/>
            <a:ext cx="3051880" cy="2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2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PDFs</a:t>
            </a:r>
          </a:p>
        </p:txBody>
      </p:sp>
      <p:sp>
        <p:nvSpPr>
          <p:cNvPr id="204" name="Text 204"/>
          <p:cNvSpPr/>
          <p:nvPr/>
        </p:nvSpPr>
        <p:spPr>
          <a:xfrm>
            <a:off x="737200" y="2750000"/>
            <a:ext cx="3051880" cy="43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kern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Text-layer extraction</a:t>
            </a:r>
          </a:p>
        </p:txBody>
      </p:sp>
      <p:sp>
        <p:nvSpPr>
          <p:cNvPr id="205" name="Text 205"/>
          <p:cNvSpPr/>
          <p:nvPr/>
        </p:nvSpPr>
        <p:spPr>
          <a:xfrm>
            <a:off x="737200" y="3220000"/>
            <a:ext cx="3051880" cy="9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5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file already contains real text. The parser reads it straight off the page — fast and exact.</a:t>
            </a:r>
          </a:p>
        </p:txBody>
      </p:sp>
      <p:sp>
        <p:nvSpPr>
          <p:cNvPr id="206" name="Text 206"/>
          <p:cNvSpPr/>
          <p:nvPr/>
        </p:nvSpPr>
        <p:spPr>
          <a:xfrm>
            <a:off x="737200" y="4210000"/>
            <a:ext cx="3051880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Tools:  PyPDF, pdfplumber</a:t>
            </a:r>
          </a:p>
        </p:txBody>
      </p:sp>
      <p:sp>
        <p:nvSpPr>
          <p:cNvPr id="207" name="Card 207"/>
          <p:cNvSpPr/>
          <p:nvPr/>
        </p:nvSpPr>
        <p:spPr>
          <a:xfrm>
            <a:off x="4288536" y="2210000"/>
            <a:ext cx="3611880" cy="236000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208" name="Text 208"/>
          <p:cNvSpPr/>
          <p:nvPr/>
        </p:nvSpPr>
        <p:spPr>
          <a:xfrm>
            <a:off x="4568536" y="2470000"/>
            <a:ext cx="3051880" cy="2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2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SCANNED PDFs</a:t>
            </a:r>
          </a:p>
        </p:txBody>
      </p:sp>
      <p:sp>
        <p:nvSpPr>
          <p:cNvPr id="209" name="Text 209"/>
          <p:cNvSpPr/>
          <p:nvPr/>
        </p:nvSpPr>
        <p:spPr>
          <a:xfrm>
            <a:off x="4568536" y="2750000"/>
            <a:ext cx="3051880" cy="43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kern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</a:t>
            </a:r>
          </a:p>
        </p:txBody>
      </p:sp>
      <p:sp>
        <p:nvSpPr>
          <p:cNvPr id="210" name="Text 210"/>
          <p:cNvSpPr/>
          <p:nvPr/>
        </p:nvSpPr>
        <p:spPr>
          <a:xfrm>
            <a:off x="4568536" y="3220000"/>
            <a:ext cx="3051880" cy="9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5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image of a page has no text layer, so OCR recognizes the characters from the pixels themselves.</a:t>
            </a:r>
          </a:p>
        </p:txBody>
      </p:sp>
      <p:sp>
        <p:nvSpPr>
          <p:cNvPr id="211" name="Text 211"/>
          <p:cNvSpPr/>
          <p:nvPr/>
        </p:nvSpPr>
        <p:spPr>
          <a:xfrm>
            <a:off x="4568536" y="4210000"/>
            <a:ext cx="3051880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Tools:  Tesseract, Document AI</a:t>
            </a:r>
          </a:p>
        </p:txBody>
      </p:sp>
      <p:sp>
        <p:nvSpPr>
          <p:cNvPr id="212" name="Card 212"/>
          <p:cNvSpPr/>
          <p:nvPr/>
        </p:nvSpPr>
        <p:spPr>
          <a:xfrm>
            <a:off x="8119872" y="2210000"/>
            <a:ext cx="3611880" cy="236000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213" name="Text 213"/>
          <p:cNvSpPr/>
          <p:nvPr/>
        </p:nvSpPr>
        <p:spPr>
          <a:xfrm>
            <a:off x="8399872" y="2470000"/>
            <a:ext cx="3051880" cy="2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2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LAYOUTS</a:t>
            </a:r>
          </a:p>
        </p:txBody>
      </p:sp>
      <p:sp>
        <p:nvSpPr>
          <p:cNvPr id="214" name="Text 214"/>
          <p:cNvSpPr/>
          <p:nvPr/>
        </p:nvSpPr>
        <p:spPr>
          <a:xfrm>
            <a:off x="8399872" y="2750000"/>
            <a:ext cx="3051880" cy="43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kern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Layout-aware parsing</a:t>
            </a:r>
          </a:p>
        </p:txBody>
      </p:sp>
      <p:sp>
        <p:nvSpPr>
          <p:cNvPr id="215" name="Text 215"/>
          <p:cNvSpPr/>
          <p:nvPr/>
        </p:nvSpPr>
        <p:spPr>
          <a:xfrm>
            <a:off x="8399872" y="3220000"/>
            <a:ext cx="3051880" cy="9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5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reading order, tables, columns and headings intact instead of producing one flat text dump.</a:t>
            </a:r>
          </a:p>
        </p:txBody>
      </p:sp>
      <p:sp>
        <p:nvSpPr>
          <p:cNvPr id="216" name="Text 216"/>
          <p:cNvSpPr/>
          <p:nvPr/>
        </p:nvSpPr>
        <p:spPr>
          <a:xfrm>
            <a:off x="8399872" y="4210000"/>
            <a:ext cx="3051880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Tools:  Document AI, Unstructured, LlamaParse</a:t>
            </a:r>
          </a:p>
        </p:txBody>
      </p:sp>
      <p:sp>
        <p:nvSpPr>
          <p:cNvPr id="217" name="Card 217"/>
          <p:cNvSpPr/>
          <p:nvPr/>
        </p:nvSpPr>
        <p:spPr>
          <a:xfrm>
            <a:off x="457200" y="4860000"/>
            <a:ext cx="11274552" cy="820000"/>
          </a:xfrm>
          <a:prstGeom prst="roundRect">
            <a:avLst>
              <a:gd name="adj" fmla="val 7059"/>
            </a:avLst>
          </a:prstGeom>
          <a:solidFill>
            <a:srgbClr val="0F2540"/>
          </a:solidFill>
          <a:ln/>
        </p:spPr>
      </p:sp>
      <p:sp>
        <p:nvSpPr>
          <p:cNvPr id="218" name="Text 218"/>
          <p:cNvSpPr/>
          <p:nvPr/>
        </p:nvSpPr>
        <p:spPr>
          <a:xfrm>
            <a:off x="731520" y="4860000"/>
            <a:ext cx="10720000" cy="8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00" b="1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Garbage in, garbage out:  </a:t>
            </a:r>
            <a:r>
              <a:rPr lang="en-US" sz="1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jumbled columns, merged tables or lost headings silently wreck retrieval downstream — parse well before you chunk.</a:t>
            </a:r>
          </a:p>
        </p:txBody>
      </p:sp>
      <p:sp>
        <p:nvSpPr>
          <p:cNvPr id="106" name="Text 106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AI Agents with Google ADK</a:t>
            </a:r>
          </a:p>
        </p:txBody>
      </p:sp>
      <p:sp>
        <p:nvSpPr>
          <p:cNvPr id="107" name="Text 10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0D9488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10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4601" y="531449"/>
            <a:ext cx="272125" cy="272125"/>
          </a:xfrm>
          <a:prstGeom prst="rect">
            <a:avLst/>
          </a:prstGeom>
        </p:spPr>
      </p:pic>
      <p:sp>
        <p:nvSpPr>
          <p:cNvPr id="103" name="Text 103"/>
          <p:cNvSpPr/>
          <p:nvPr/>
        </p:nvSpPr>
        <p:spPr>
          <a:xfrm>
            <a:off x="1207008" y="384048"/>
            <a:ext cx="10524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· CONCEPT</a:t>
            </a:r>
          </a:p>
        </p:txBody>
      </p:sp>
      <p:sp>
        <p:nvSpPr>
          <p:cNvPr id="104" name="Text 104"/>
          <p:cNvSpPr/>
          <p:nvPr/>
        </p:nvSpPr>
        <p:spPr>
          <a:xfrm>
            <a:off x="1207008" y="640080"/>
            <a:ext cx="105247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kern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an embedding?</a:t>
            </a:r>
          </a:p>
        </p:txBody>
      </p:sp>
      <p:sp>
        <p:nvSpPr>
          <p:cNvPr id="201" name="Text 201"/>
          <p:cNvSpPr/>
          <p:nvPr/>
        </p:nvSpPr>
        <p:spPr>
          <a:xfrm>
            <a:off x="457200" y="1463040"/>
            <a:ext cx="11247120" cy="5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An embedding </a:t>
            </a:r>
            <a:r>
              <a:rPr lang="en-US" sz="1500" kern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turns a piece of text into a list of numbers — a vector — that captures its meaning. Similar meanings land close together.</a:t>
            </a:r>
          </a:p>
        </p:txBody>
      </p:sp>
      <p:sp>
        <p:nvSpPr>
          <p:cNvPr id="202" name="Card 202"/>
          <p:cNvSpPr/>
          <p:nvPr/>
        </p:nvSpPr>
        <p:spPr>
          <a:xfrm>
            <a:off x="457200" y="2210000"/>
            <a:ext cx="5260000" cy="3470000"/>
          </a:xfrm>
          <a:prstGeom prst="roundRect">
            <a:avLst>
              <a:gd name="adj" fmla="val 2600"/>
            </a:avLst>
          </a:prstGeom>
          <a:solidFill>
            <a:srgbClr val="0B1B2B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203" name="Text 203"/>
          <p:cNvSpPr/>
          <p:nvPr/>
        </p:nvSpPr>
        <p:spPr>
          <a:xfrm>
            <a:off x="817200" y="2510000"/>
            <a:ext cx="454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Meaning as coordinates</a:t>
            </a:r>
          </a:p>
        </p:txBody>
      </p:sp>
      <p:sp>
        <p:nvSpPr>
          <p:cNvPr id="204" name="Text 204"/>
          <p:cNvSpPr/>
          <p:nvPr/>
        </p:nvSpPr>
        <p:spPr>
          <a:xfrm>
            <a:off x="817200" y="3030000"/>
            <a:ext cx="454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kern="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“the cat sat”</a:t>
            </a:r>
          </a:p>
        </p:txBody>
      </p:sp>
      <p:sp>
        <p:nvSpPr>
          <p:cNvPr id="205" name="Text 205"/>
          <p:cNvSpPr/>
          <p:nvPr/>
        </p:nvSpPr>
        <p:spPr>
          <a:xfrm>
            <a:off x="817200" y="3300000"/>
            <a:ext cx="454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kern="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[ 0.21, -0.44, 0.88, … ]</a:t>
            </a:r>
          </a:p>
        </p:txBody>
      </p:sp>
      <p:sp>
        <p:nvSpPr>
          <p:cNvPr id="206" name="Text 206"/>
          <p:cNvSpPr/>
          <p:nvPr/>
        </p:nvSpPr>
        <p:spPr>
          <a:xfrm>
            <a:off x="817200" y="3750000"/>
            <a:ext cx="454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kern="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 kitten naps”</a:t>
            </a:r>
          </a:p>
        </p:txBody>
      </p:sp>
      <p:sp>
        <p:nvSpPr>
          <p:cNvPr id="207" name="Text 207"/>
          <p:cNvSpPr/>
          <p:nvPr/>
        </p:nvSpPr>
        <p:spPr>
          <a:xfrm>
            <a:off x="817200" y="4020000"/>
            <a:ext cx="454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kern="0" dirty="0">
                <a:solidFill>
                  <a:srgbClr val="8BD5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[ 0.19, -0.41, 0.85, … ]</a:t>
            </a:r>
          </a:p>
        </p:txBody>
      </p:sp>
      <p:sp>
        <p:nvSpPr>
          <p:cNvPr id="208" name="Text 208"/>
          <p:cNvSpPr/>
          <p:nvPr/>
        </p:nvSpPr>
        <p:spPr>
          <a:xfrm>
            <a:off x="817200" y="4470000"/>
            <a:ext cx="454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kern="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“stock prices fell”</a:t>
            </a:r>
          </a:p>
        </p:txBody>
      </p:sp>
      <p:sp>
        <p:nvSpPr>
          <p:cNvPr id="209" name="Text 209"/>
          <p:cNvSpPr/>
          <p:nvPr/>
        </p:nvSpPr>
        <p:spPr>
          <a:xfrm>
            <a:off x="817200" y="4740000"/>
            <a:ext cx="454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kern="0" dirty="0">
                <a:solidFill>
                  <a:srgbClr val="FBBF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-0.72, 0.30, -0.10, … ]</a:t>
            </a:r>
          </a:p>
        </p:txBody>
      </p:sp>
      <p:sp>
        <p:nvSpPr>
          <p:cNvPr id="210" name="Text 210"/>
          <p:cNvSpPr/>
          <p:nvPr/>
        </p:nvSpPr>
        <p:spPr>
          <a:xfrm>
            <a:off x="817200" y="5120000"/>
            <a:ext cx="4540000" cy="4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100" b="1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Closer vectors = more similar meaning. </a:t>
            </a:r>
            <a:r>
              <a:rPr lang="en-US" sz="1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“kitten” sits near “cat”; finance sits far away.</a:t>
            </a:r>
          </a:p>
        </p:txBody>
      </p:sp>
      <p:sp>
        <p:nvSpPr>
          <p:cNvPr id="211" name="Card 211"/>
          <p:cNvSpPr/>
          <p:nvPr/>
        </p:nvSpPr>
        <p:spPr>
          <a:xfrm>
            <a:off x="5990000" y="2210000"/>
            <a:ext cx="5741752" cy="105000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212" name="Text 212"/>
          <p:cNvSpPr/>
          <p:nvPr/>
        </p:nvSpPr>
        <p:spPr>
          <a:xfrm>
            <a:off x="6290000" y="2410000"/>
            <a:ext cx="5141752" cy="33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kern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Similarity = distance</a:t>
            </a:r>
          </a:p>
        </p:txBody>
      </p:sp>
      <p:sp>
        <p:nvSpPr>
          <p:cNvPr id="213" name="Text 213"/>
          <p:cNvSpPr/>
          <p:nvPr/>
        </p:nvSpPr>
        <p:spPr>
          <a:xfrm>
            <a:off x="6290000" y="2770000"/>
            <a:ext cx="5141752" cy="4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pulls the chunks whose vectors are nearest the question’s vector, scored by cosine similarity.</a:t>
            </a:r>
          </a:p>
        </p:txBody>
      </p:sp>
      <p:sp>
        <p:nvSpPr>
          <p:cNvPr id="214" name="Card 214"/>
          <p:cNvSpPr/>
          <p:nvPr/>
        </p:nvSpPr>
        <p:spPr>
          <a:xfrm>
            <a:off x="5990000" y="3420000"/>
            <a:ext cx="5741752" cy="105000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215" name="Text 215"/>
          <p:cNvSpPr/>
          <p:nvPr/>
        </p:nvSpPr>
        <p:spPr>
          <a:xfrm>
            <a:off x="6290000" y="3620000"/>
            <a:ext cx="5141752" cy="33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kern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model, both sides</a:t>
            </a:r>
          </a:p>
        </p:txBody>
      </p:sp>
      <p:sp>
        <p:nvSpPr>
          <p:cNvPr id="216" name="Text 216"/>
          <p:cNvSpPr/>
          <p:nvPr/>
        </p:nvSpPr>
        <p:spPr>
          <a:xfrm>
            <a:off x="6290000" y="3980000"/>
            <a:ext cx="5141752" cy="4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embedding model encodes your documents and the user’s question, so they share one vector space.</a:t>
            </a:r>
          </a:p>
        </p:txBody>
      </p:sp>
      <p:sp>
        <p:nvSpPr>
          <p:cNvPr id="217" name="Card 217"/>
          <p:cNvSpPr/>
          <p:nvPr/>
        </p:nvSpPr>
        <p:spPr>
          <a:xfrm>
            <a:off x="5990000" y="4630000"/>
            <a:ext cx="5741752" cy="105000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218" name="Text 218"/>
          <p:cNvSpPr/>
          <p:nvPr/>
        </p:nvSpPr>
        <p:spPr>
          <a:xfrm>
            <a:off x="6290000" y="4830000"/>
            <a:ext cx="5141752" cy="33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kern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pick the model</a:t>
            </a:r>
          </a:p>
        </p:txBody>
      </p:sp>
      <p:sp>
        <p:nvSpPr>
          <p:cNvPr id="219" name="Text 219"/>
          <p:cNvSpPr/>
          <p:nvPr/>
        </p:nvSpPr>
        <p:spPr>
          <a:xfrm>
            <a:off x="6290000" y="5190000"/>
            <a:ext cx="5141752" cy="4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Vertex text-embedding-005 or Gemini embeddings — ADK’s RAG Engine runs it for you, no manual math.</a:t>
            </a:r>
          </a:p>
        </p:txBody>
      </p:sp>
      <p:sp>
        <p:nvSpPr>
          <p:cNvPr id="106" name="Text 106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AI Agents with Google ADK</a:t>
            </a:r>
          </a:p>
        </p:txBody>
      </p:sp>
      <p:sp>
        <p:nvSpPr>
          <p:cNvPr id="107" name="Text 10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0D9488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10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4601" y="531449"/>
            <a:ext cx="272125" cy="272125"/>
          </a:xfrm>
          <a:prstGeom prst="rect">
            <a:avLst/>
          </a:prstGeom>
        </p:spPr>
      </p:pic>
      <p:sp>
        <p:nvSpPr>
          <p:cNvPr id="103" name="Text 103"/>
          <p:cNvSpPr/>
          <p:nvPr/>
        </p:nvSpPr>
        <p:spPr>
          <a:xfrm>
            <a:off x="1207008" y="384048"/>
            <a:ext cx="10524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· CONCEPT</a:t>
            </a:r>
          </a:p>
        </p:txBody>
      </p:sp>
      <p:sp>
        <p:nvSpPr>
          <p:cNvPr id="104" name="Text 104"/>
          <p:cNvSpPr/>
          <p:nvPr/>
        </p:nvSpPr>
        <p:spPr>
          <a:xfrm>
            <a:off x="1207008" y="640080"/>
            <a:ext cx="105247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kern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Chunking: the different types</a:t>
            </a:r>
          </a:p>
        </p:txBody>
      </p:sp>
      <p:sp>
        <p:nvSpPr>
          <p:cNvPr id="201" name="Text 201"/>
          <p:cNvSpPr/>
          <p:nvPr/>
        </p:nvSpPr>
        <p:spPr>
          <a:xfrm>
            <a:off x="457200" y="1463040"/>
            <a:ext cx="11247120" cy="5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Chunking </a:t>
            </a:r>
            <a:r>
              <a:rPr lang="en-US" sz="1500" kern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splits a document into passages small enough to embed and retrieve. How you split decides what the model can find.</a:t>
            </a:r>
          </a:p>
        </p:txBody>
      </p:sp>
      <p:sp>
        <p:nvSpPr>
          <p:cNvPr id="202" name="Circle 202"/>
          <p:cNvSpPr/>
          <p:nvPr/>
        </p:nvSpPr>
        <p:spPr>
          <a:xfrm>
            <a:off x="457200" y="2175000"/>
            <a:ext cx="560000" cy="56000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03" name="Text 203"/>
          <p:cNvSpPr/>
          <p:nvPr/>
        </p:nvSpPr>
        <p:spPr>
          <a:xfrm>
            <a:off x="457200" y="2175000"/>
            <a:ext cx="560000" cy="5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</a:p>
        </p:txBody>
      </p:sp>
      <p:sp>
        <p:nvSpPr>
          <p:cNvPr id="204" name="Text 204"/>
          <p:cNvSpPr/>
          <p:nvPr/>
        </p:nvSpPr>
        <p:spPr>
          <a:xfrm>
            <a:off x="1180000" y="2070000"/>
            <a:ext cx="10551752" cy="7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b="1" kern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Fixed-size  —  </a:t>
            </a:r>
            <a:r>
              <a:rPr lang="en-US" sz="1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every N characters or tokens. Simplest and fastest, but it will happily cut a sentence in half.</a:t>
            </a:r>
          </a:p>
        </p:txBody>
      </p:sp>
      <p:sp>
        <p:nvSpPr>
          <p:cNvPr id="205" name="Circle 205"/>
          <p:cNvSpPr/>
          <p:nvPr/>
        </p:nvSpPr>
        <p:spPr>
          <a:xfrm>
            <a:off x="457200" y="3005000"/>
            <a:ext cx="560000" cy="56000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06" name="Text 206"/>
          <p:cNvSpPr/>
          <p:nvPr/>
        </p:nvSpPr>
        <p:spPr>
          <a:xfrm>
            <a:off x="457200" y="3005000"/>
            <a:ext cx="560000" cy="5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</a:p>
        </p:txBody>
      </p:sp>
      <p:sp>
        <p:nvSpPr>
          <p:cNvPr id="207" name="Text 207"/>
          <p:cNvSpPr/>
          <p:nvPr/>
        </p:nvSpPr>
        <p:spPr>
          <a:xfrm>
            <a:off x="1180000" y="2900000"/>
            <a:ext cx="10551752" cy="7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b="1" kern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Recursive  —  </a:t>
            </a:r>
            <a:r>
              <a:rPr lang="en-US" sz="1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on a hierarchy — paragraphs, then sentences, then words — to stay under a size limit while respecting boundaries. The sensible default.</a:t>
            </a:r>
          </a:p>
        </p:txBody>
      </p:sp>
      <p:sp>
        <p:nvSpPr>
          <p:cNvPr id="208" name="Circle 208"/>
          <p:cNvSpPr/>
          <p:nvPr/>
        </p:nvSpPr>
        <p:spPr>
          <a:xfrm>
            <a:off x="457200" y="3835000"/>
            <a:ext cx="560000" cy="56000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09" name="Text 209"/>
          <p:cNvSpPr/>
          <p:nvPr/>
        </p:nvSpPr>
        <p:spPr>
          <a:xfrm>
            <a:off x="457200" y="3835000"/>
            <a:ext cx="560000" cy="5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</a:p>
        </p:txBody>
      </p:sp>
      <p:sp>
        <p:nvSpPr>
          <p:cNvPr id="210" name="Text 210"/>
          <p:cNvSpPr/>
          <p:nvPr/>
        </p:nvSpPr>
        <p:spPr>
          <a:xfrm>
            <a:off x="1180000" y="3730000"/>
            <a:ext cx="10551752" cy="7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b="1" kern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Document-based  —  </a:t>
            </a:r>
            <a:r>
              <a:rPr lang="en-US" sz="1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on the document’s own structure: markdown headings, sections, list items, code blocks, table rows.</a:t>
            </a:r>
          </a:p>
        </p:txBody>
      </p:sp>
      <p:sp>
        <p:nvSpPr>
          <p:cNvPr id="211" name="Circle 211"/>
          <p:cNvSpPr/>
          <p:nvPr/>
        </p:nvSpPr>
        <p:spPr>
          <a:xfrm>
            <a:off x="457200" y="4665000"/>
            <a:ext cx="560000" cy="56000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12" name="Text 212"/>
          <p:cNvSpPr/>
          <p:nvPr/>
        </p:nvSpPr>
        <p:spPr>
          <a:xfrm>
            <a:off x="457200" y="4665000"/>
            <a:ext cx="560000" cy="5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</a:p>
        </p:txBody>
      </p:sp>
      <p:sp>
        <p:nvSpPr>
          <p:cNvPr id="213" name="Text 213"/>
          <p:cNvSpPr/>
          <p:nvPr/>
        </p:nvSpPr>
        <p:spPr>
          <a:xfrm>
            <a:off x="1180000" y="4560000"/>
            <a:ext cx="10551752" cy="7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b="1" kern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Sliding window  —  </a:t>
            </a:r>
            <a:r>
              <a:rPr lang="en-US" sz="1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chunks that overlap, so context isn’t lost where one chunk ends and the next begins.</a:t>
            </a:r>
          </a:p>
        </p:txBody>
      </p:sp>
      <p:sp>
        <p:nvSpPr>
          <p:cNvPr id="214" name="Circle 214"/>
          <p:cNvSpPr/>
          <p:nvPr/>
        </p:nvSpPr>
        <p:spPr>
          <a:xfrm>
            <a:off x="457200" y="5495000"/>
            <a:ext cx="560000" cy="56000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15" name="Text 215"/>
          <p:cNvSpPr/>
          <p:nvPr/>
        </p:nvSpPr>
        <p:spPr>
          <a:xfrm>
            <a:off x="457200" y="5495000"/>
            <a:ext cx="560000" cy="5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</a:p>
        </p:txBody>
      </p:sp>
      <p:sp>
        <p:nvSpPr>
          <p:cNvPr id="216" name="Text 216"/>
          <p:cNvSpPr/>
          <p:nvPr/>
        </p:nvSpPr>
        <p:spPr>
          <a:xfrm>
            <a:off x="1180000" y="5390000"/>
            <a:ext cx="10551752" cy="7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b="1" kern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Semantic  —  </a:t>
            </a:r>
            <a:r>
              <a:rPr lang="en-US" sz="1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 sentences and group them while the topic holds; break where the meaning shifts. Best coherence, most compute.</a:t>
            </a:r>
          </a:p>
        </p:txBody>
      </p:sp>
      <p:sp>
        <p:nvSpPr>
          <p:cNvPr id="106" name="Text 106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AI Agents with Google ADK</a:t>
            </a:r>
          </a:p>
        </p:txBody>
      </p:sp>
      <p:sp>
        <p:nvSpPr>
          <p:cNvPr id="107" name="Text 10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0D9488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10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4601" y="531449"/>
            <a:ext cx="272125" cy="272125"/>
          </a:xfrm>
          <a:prstGeom prst="rect">
            <a:avLst/>
          </a:prstGeom>
        </p:spPr>
      </p:pic>
      <p:sp>
        <p:nvSpPr>
          <p:cNvPr id="103" name="Text 103"/>
          <p:cNvSpPr/>
          <p:nvPr/>
        </p:nvSpPr>
        <p:spPr>
          <a:xfrm>
            <a:off x="1207008" y="384048"/>
            <a:ext cx="10524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· CONCEPT</a:t>
            </a:r>
          </a:p>
        </p:txBody>
      </p:sp>
      <p:sp>
        <p:nvSpPr>
          <p:cNvPr id="104" name="Text 104"/>
          <p:cNvSpPr/>
          <p:nvPr/>
        </p:nvSpPr>
        <p:spPr>
          <a:xfrm>
            <a:off x="1207008" y="640080"/>
            <a:ext cx="105247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kern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Chunking best practices</a:t>
            </a:r>
          </a:p>
        </p:txBody>
      </p:sp>
      <p:sp>
        <p:nvSpPr>
          <p:cNvPr id="201" name="Text 201"/>
          <p:cNvSpPr/>
          <p:nvPr/>
        </p:nvSpPr>
        <p:spPr>
          <a:xfrm>
            <a:off x="457200" y="1463040"/>
            <a:ext cx="11247120" cy="5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Good chunks </a:t>
            </a:r>
            <a:r>
              <a:rPr lang="en-US" sz="1500" kern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 cheapest, highest-leverage fix for weak retrieval. The five rules that matter most:</a:t>
            </a:r>
          </a:p>
        </p:txBody>
      </p:sp>
      <p:sp>
        <p:nvSpPr>
          <p:cNvPr id="202" name="Circle 202"/>
          <p:cNvSpPr/>
          <p:nvPr/>
        </p:nvSpPr>
        <p:spPr>
          <a:xfrm>
            <a:off x="457200" y="2150000"/>
            <a:ext cx="470000" cy="47000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03" name="Text 203"/>
          <p:cNvSpPr/>
          <p:nvPr/>
        </p:nvSpPr>
        <p:spPr>
          <a:xfrm>
            <a:off x="457200" y="2130000"/>
            <a:ext cx="470000" cy="4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</a:p>
        </p:txBody>
      </p:sp>
      <p:sp>
        <p:nvSpPr>
          <p:cNvPr id="204" name="Text 204"/>
          <p:cNvSpPr/>
          <p:nvPr/>
        </p:nvSpPr>
        <p:spPr>
          <a:xfrm>
            <a:off x="1097200" y="2120000"/>
            <a:ext cx="518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kern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overlap (10–20%)</a:t>
            </a:r>
          </a:p>
        </p:txBody>
      </p:sp>
      <p:sp>
        <p:nvSpPr>
          <p:cNvPr id="205" name="Text 205"/>
          <p:cNvSpPr/>
          <p:nvPr/>
        </p:nvSpPr>
        <p:spPr>
          <a:xfrm>
            <a:off x="1097200" y="2400000"/>
            <a:ext cx="5180000" cy="4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a sentence split across a boundary is still findable in both chunks.</a:t>
            </a:r>
          </a:p>
        </p:txBody>
      </p:sp>
      <p:sp>
        <p:nvSpPr>
          <p:cNvPr id="206" name="Circle 206"/>
          <p:cNvSpPr/>
          <p:nvPr/>
        </p:nvSpPr>
        <p:spPr>
          <a:xfrm>
            <a:off x="457200" y="2880000"/>
            <a:ext cx="470000" cy="47000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07" name="Text 207"/>
          <p:cNvSpPr/>
          <p:nvPr/>
        </p:nvSpPr>
        <p:spPr>
          <a:xfrm>
            <a:off x="457200" y="2860000"/>
            <a:ext cx="470000" cy="4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</a:p>
        </p:txBody>
      </p:sp>
      <p:sp>
        <p:nvSpPr>
          <p:cNvPr id="208" name="Text 208"/>
          <p:cNvSpPr/>
          <p:nvPr/>
        </p:nvSpPr>
        <p:spPr>
          <a:xfrm>
            <a:off x="1097200" y="2850000"/>
            <a:ext cx="518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kern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Respect structure</a:t>
            </a:r>
          </a:p>
        </p:txBody>
      </p:sp>
      <p:sp>
        <p:nvSpPr>
          <p:cNvPr id="209" name="Text 209"/>
          <p:cNvSpPr/>
          <p:nvPr/>
        </p:nvSpPr>
        <p:spPr>
          <a:xfrm>
            <a:off x="1097200" y="3130000"/>
            <a:ext cx="5180000" cy="4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on headings and paragraphs, not blind character counts.</a:t>
            </a:r>
          </a:p>
        </p:txBody>
      </p:sp>
      <p:sp>
        <p:nvSpPr>
          <p:cNvPr id="210" name="Circle 210"/>
          <p:cNvSpPr/>
          <p:nvPr/>
        </p:nvSpPr>
        <p:spPr>
          <a:xfrm>
            <a:off x="457200" y="3610000"/>
            <a:ext cx="470000" cy="47000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11" name="Text 211"/>
          <p:cNvSpPr/>
          <p:nvPr/>
        </p:nvSpPr>
        <p:spPr>
          <a:xfrm>
            <a:off x="457200" y="3590000"/>
            <a:ext cx="470000" cy="4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</a:p>
        </p:txBody>
      </p:sp>
      <p:sp>
        <p:nvSpPr>
          <p:cNvPr id="212" name="Text 212"/>
          <p:cNvSpPr/>
          <p:nvPr/>
        </p:nvSpPr>
        <p:spPr>
          <a:xfrm>
            <a:off x="1097200" y="3580000"/>
            <a:ext cx="518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kern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 to model &amp; query</a:t>
            </a:r>
          </a:p>
        </p:txBody>
      </p:sp>
      <p:sp>
        <p:nvSpPr>
          <p:cNvPr id="213" name="Text 213"/>
          <p:cNvSpPr/>
          <p:nvPr/>
        </p:nvSpPr>
        <p:spPr>
          <a:xfrm>
            <a:off x="1097200" y="3860000"/>
            <a:ext cx="5180000" cy="4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~200–500 tokens is a common sweet spot; too big dilutes meaning, too small loses context.</a:t>
            </a:r>
          </a:p>
        </p:txBody>
      </p:sp>
      <p:sp>
        <p:nvSpPr>
          <p:cNvPr id="214" name="Circle 214"/>
          <p:cNvSpPr/>
          <p:nvPr/>
        </p:nvSpPr>
        <p:spPr>
          <a:xfrm>
            <a:off x="457200" y="4340000"/>
            <a:ext cx="470000" cy="47000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15" name="Text 215"/>
          <p:cNvSpPr/>
          <p:nvPr/>
        </p:nvSpPr>
        <p:spPr>
          <a:xfrm>
            <a:off x="457200" y="4320000"/>
            <a:ext cx="470000" cy="4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</a:p>
        </p:txBody>
      </p:sp>
      <p:sp>
        <p:nvSpPr>
          <p:cNvPr id="216" name="Text 216"/>
          <p:cNvSpPr/>
          <p:nvPr/>
        </p:nvSpPr>
        <p:spPr>
          <a:xfrm>
            <a:off x="1097200" y="4310000"/>
            <a:ext cx="518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kern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metadata</a:t>
            </a:r>
          </a:p>
        </p:txBody>
      </p:sp>
      <p:sp>
        <p:nvSpPr>
          <p:cNvPr id="217" name="Text 217"/>
          <p:cNvSpPr/>
          <p:nvPr/>
        </p:nvSpPr>
        <p:spPr>
          <a:xfrm>
            <a:off x="1097200" y="4590000"/>
            <a:ext cx="5180000" cy="4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source, page and section with each chunk for citations and filtering.</a:t>
            </a:r>
          </a:p>
        </p:txBody>
      </p:sp>
      <p:sp>
        <p:nvSpPr>
          <p:cNvPr id="218" name="Circle 218"/>
          <p:cNvSpPr/>
          <p:nvPr/>
        </p:nvSpPr>
        <p:spPr>
          <a:xfrm>
            <a:off x="457200" y="5070000"/>
            <a:ext cx="470000" cy="47000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19" name="Text 219"/>
          <p:cNvSpPr/>
          <p:nvPr/>
        </p:nvSpPr>
        <p:spPr>
          <a:xfrm>
            <a:off x="457200" y="5050000"/>
            <a:ext cx="470000" cy="4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</a:p>
        </p:txBody>
      </p:sp>
      <p:sp>
        <p:nvSpPr>
          <p:cNvPr id="220" name="Text 220"/>
          <p:cNvSpPr/>
          <p:nvPr/>
        </p:nvSpPr>
        <p:spPr>
          <a:xfrm>
            <a:off x="1097200" y="5040000"/>
            <a:ext cx="518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kern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by retrieving</a:t>
            </a:r>
          </a:p>
        </p:txBody>
      </p:sp>
      <p:sp>
        <p:nvSpPr>
          <p:cNvPr id="221" name="Text 221"/>
          <p:cNvSpPr/>
          <p:nvPr/>
        </p:nvSpPr>
        <p:spPr>
          <a:xfrm>
            <a:off x="1097200" y="5320000"/>
            <a:ext cx="5180000" cy="4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 chunk size and overlap against real questions, not by guessing.</a:t>
            </a:r>
          </a:p>
        </p:txBody>
      </p:sp>
      <p:sp>
        <p:nvSpPr>
          <p:cNvPr id="222" name="Card 222"/>
          <p:cNvSpPr/>
          <p:nvPr/>
        </p:nvSpPr>
        <p:spPr>
          <a:xfrm>
            <a:off x="6500000" y="2150000"/>
            <a:ext cx="5231752" cy="3640000"/>
          </a:xfrm>
          <a:prstGeom prst="roundRect">
            <a:avLst>
              <a:gd name="adj" fmla="val 1739"/>
            </a:avLst>
          </a:prstGeom>
          <a:solidFill>
            <a:srgbClr val="0B1B2B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223" name="Circle 223"/>
          <p:cNvSpPr/>
          <p:nvPr/>
        </p:nvSpPr>
        <p:spPr>
          <a:xfrm>
            <a:off x="6800000" y="2400000"/>
            <a:ext cx="130000" cy="130000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224" name="Circle 224"/>
          <p:cNvSpPr/>
          <p:nvPr/>
        </p:nvSpPr>
        <p:spPr>
          <a:xfrm>
            <a:off x="7030000" y="2400000"/>
            <a:ext cx="130000" cy="130000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225" name="Circle 225"/>
          <p:cNvSpPr/>
          <p:nvPr/>
        </p:nvSpPr>
        <p:spPr>
          <a:xfrm>
            <a:off x="7260000" y="2400000"/>
            <a:ext cx="130000" cy="130000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226" name="Text 226"/>
          <p:cNvSpPr/>
          <p:nvPr/>
        </p:nvSpPr>
        <p:spPr>
          <a:xfrm>
            <a:off x="6830000" y="2670000"/>
            <a:ext cx="4671752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kern="0" dirty="0">
                <a:solidFill>
                  <a:srgbClr val="8BD5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r>
              <a:rPr lang="en-US" sz="1100" kern="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langchain.text_splitter </a:t>
            </a:r>
            <a:r>
              <a:rPr lang="en-US" sz="1100" kern="0" dirty="0">
                <a:solidFill>
                  <a:srgbClr val="8BD5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</a:p>
        </p:txBody>
      </p:sp>
      <p:sp>
        <p:nvSpPr>
          <p:cNvPr id="227" name="Text 227"/>
          <p:cNvSpPr/>
          <p:nvPr/>
        </p:nvSpPr>
        <p:spPr>
          <a:xfrm>
            <a:off x="6830000" y="2970000"/>
            <a:ext cx="4671752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kern="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RecursiveCharacterTextSplitter</a:t>
            </a:r>
          </a:p>
        </p:txBody>
      </p:sp>
      <p:sp>
        <p:nvSpPr>
          <p:cNvPr id="228" name="Text 228"/>
          <p:cNvSpPr/>
          <p:nvPr/>
        </p:nvSpPr>
        <p:spPr>
          <a:xfrm>
            <a:off x="6830000" y="3270000"/>
            <a:ext cx="4671752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kern="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/>
            </a:r>
          </a:p>
        </p:txBody>
      </p:sp>
      <p:sp>
        <p:nvSpPr>
          <p:cNvPr id="229" name="Text 229"/>
          <p:cNvSpPr/>
          <p:nvPr/>
        </p:nvSpPr>
        <p:spPr>
          <a:xfrm>
            <a:off x="6830000" y="3570000"/>
            <a:ext cx="4671752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kern="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splitter = </a:t>
            </a:r>
            <a:r>
              <a:rPr lang="en-US" sz="1100" kern="0" dirty="0">
                <a:solidFill>
                  <a:srgbClr val="FBBF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RecursiveCharacterTextSplitter</a:t>
            </a:r>
            <a:r>
              <a:rPr lang="en-US" sz="1100" kern="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</a:p>
        </p:txBody>
      </p:sp>
      <p:sp>
        <p:nvSpPr>
          <p:cNvPr id="230" name="Text 230"/>
          <p:cNvSpPr/>
          <p:nvPr/>
        </p:nvSpPr>
        <p:spPr>
          <a:xfrm>
            <a:off x="6830000" y="3870000"/>
            <a:ext cx="4671752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kern="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chunk_size=</a:t>
            </a:r>
            <a:r>
              <a:rPr lang="en-US" sz="1100" kern="0" dirty="0">
                <a:solidFill>
                  <a:srgbClr val="FBBF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500</a:t>
            </a:r>
            <a:r>
              <a:rPr lang="en-US" sz="1100" kern="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100" kern="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    # ~tokens</a:t>
            </a:r>
          </a:p>
        </p:txBody>
      </p:sp>
      <p:sp>
        <p:nvSpPr>
          <p:cNvPr id="231" name="Text 231"/>
          <p:cNvSpPr/>
          <p:nvPr/>
        </p:nvSpPr>
        <p:spPr>
          <a:xfrm>
            <a:off x="6830000" y="4170000"/>
            <a:ext cx="4671752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kern="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chunk_overlap=</a:t>
            </a:r>
            <a:r>
              <a:rPr lang="en-US" sz="1100" kern="0" dirty="0">
                <a:solidFill>
                  <a:srgbClr val="FBBF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75</a:t>
            </a:r>
            <a:r>
              <a:rPr lang="en-US" sz="1100" kern="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100" kern="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  # ~15% overlap</a:t>
            </a:r>
          </a:p>
        </p:txBody>
      </p:sp>
      <p:sp>
        <p:nvSpPr>
          <p:cNvPr id="232" name="Text 232"/>
          <p:cNvSpPr/>
          <p:nvPr/>
        </p:nvSpPr>
        <p:spPr>
          <a:xfrm>
            <a:off x="6830000" y="4470000"/>
            <a:ext cx="4671752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kern="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separators=[</a:t>
            </a:r>
            <a:r>
              <a:rPr lang="en-US" sz="1100" kern="0" dirty="0">
                <a:solidFill>
                  <a:srgbClr val="FBBF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“\n\n”, “\n”, “. ”, “ ”</a:t>
            </a:r>
            <a:r>
              <a:rPr lang="en-US" sz="1100" kern="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])</a:t>
            </a:r>
          </a:p>
        </p:txBody>
      </p:sp>
      <p:sp>
        <p:nvSpPr>
          <p:cNvPr id="233" name="Text 233"/>
          <p:cNvSpPr/>
          <p:nvPr/>
        </p:nvSpPr>
        <p:spPr>
          <a:xfrm>
            <a:off x="6830000" y="4770000"/>
            <a:ext cx="4671752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kern="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/>
            </a:r>
          </a:p>
        </p:txBody>
      </p:sp>
      <p:sp>
        <p:nvSpPr>
          <p:cNvPr id="234" name="Text 234"/>
          <p:cNvSpPr/>
          <p:nvPr/>
        </p:nvSpPr>
        <p:spPr>
          <a:xfrm>
            <a:off x="6830000" y="5070000"/>
            <a:ext cx="4671752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kern="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chunks = splitter.</a:t>
            </a:r>
            <a:r>
              <a:rPr lang="en-US" sz="1100" kern="0" dirty="0">
                <a:solidFill>
                  <a:srgbClr val="FBBF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split_text</a:t>
            </a:r>
            <a:r>
              <a:rPr lang="en-US" sz="1100" kern="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(doc_text)</a:t>
            </a:r>
          </a:p>
        </p:txBody>
      </p:sp>
      <p:sp>
        <p:nvSpPr>
          <p:cNvPr id="235" name="Text 235"/>
          <p:cNvSpPr/>
          <p:nvPr/>
        </p:nvSpPr>
        <p:spPr>
          <a:xfrm>
            <a:off x="6830000" y="5230000"/>
            <a:ext cx="4671752" cy="4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b="1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Vertex AI RAG Engine </a:t>
            </a:r>
            <a:r>
              <a:rPr lang="en-US" sz="1100" kern="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exposes the same chunk_size / chunk_overlap knobs at ingestion.</a:t>
            </a:r>
          </a:p>
        </p:txBody>
      </p:sp>
      <p:sp>
        <p:nvSpPr>
          <p:cNvPr id="106" name="Text 106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AI Agents with Google ADK</a:t>
            </a:r>
          </a:p>
        </p:txBody>
      </p:sp>
      <p:sp>
        <p:nvSpPr>
          <p:cNvPr id="107" name="Text 10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Building AI Agents with Google ADK</dc:title>
  <dc:subject>PptxGenJS Presentation</dc:subject>
  <dc:creator>Workshop</dc:creator>
  <cp:lastModifiedBy>Workshop</cp:lastModifiedBy>
  <cp:revision>1</cp:revision>
  <dcterms:created xsi:type="dcterms:W3CDTF">2026-06-15T13:24:09Z</dcterms:created>
  <dcterms:modified xsi:type="dcterms:W3CDTF">2026-06-15T13:24:09Z</dcterms:modified>
</cp:coreProperties>
</file>